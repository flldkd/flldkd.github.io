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8.svg" ContentType="image/svg+xml"/>
  <Override PartName="/ppt/media/image2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2"/>
  </p:notesMasterIdLst>
  <p:sldIdLst>
    <p:sldId id="280" r:id="rId4"/>
    <p:sldId id="281" r:id="rId5"/>
    <p:sldId id="303" r:id="rId6"/>
    <p:sldId id="283" r:id="rId7"/>
    <p:sldId id="285" r:id="rId8"/>
    <p:sldId id="286" r:id="rId9"/>
    <p:sldId id="305" r:id="rId10"/>
    <p:sldId id="287" r:id="rId11"/>
    <p:sldId id="288" r:id="rId13"/>
    <p:sldId id="298" r:id="rId14"/>
    <p:sldId id="299" r:id="rId15"/>
    <p:sldId id="300" r:id="rId16"/>
    <p:sldId id="301" r:id="rId17"/>
    <p:sldId id="289" r:id="rId18"/>
    <p:sldId id="290" r:id="rId19"/>
    <p:sldId id="291" r:id="rId20"/>
    <p:sldId id="292" r:id="rId21"/>
    <p:sldId id="294" r:id="rId22"/>
    <p:sldId id="295" r:id="rId23"/>
    <p:sldId id="297" r:id="rId24"/>
    <p:sldId id="282" r:id="rId25"/>
    <p:sldId id="306" r:id="rId26"/>
    <p:sldId id="293" r:id="rId27"/>
  </p:sldIdLst>
  <p:sldSz cx="12192000" cy="6858000" type="screen16x9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3" userDrawn="1">
          <p15:clr>
            <a:srgbClr val="A4A3A4"/>
          </p15:clr>
        </p15:guide>
        <p15:guide id="2" pos="3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D23"/>
    <a:srgbClr val="1920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292" y="44"/>
      </p:cViewPr>
      <p:guideLst>
        <p:guide orient="horz" pos="2233"/>
        <p:guide pos="38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1" Type="http://schemas.openxmlformats.org/officeDocument/2006/relationships/tags" Target="tags/tag57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9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60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61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zh-CN" altLang="en-US"/>
          </a:p>
        </p:txBody>
      </p:sp>
      <p:sp>
        <p:nvSpPr>
          <p:cNvPr id="1048862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3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64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/>
      <p:sp>
        <p:nvSpPr>
          <p:cNvPr id="1048657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1048658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/>
      <p:sp>
        <p:nvSpPr>
          <p:cNvPr id="1048677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1048678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/>
      <p:sp>
        <p:nvSpPr>
          <p:cNvPr id="1048719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104872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/>
      <p:sp>
        <p:nvSpPr>
          <p:cNvPr id="1048719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104872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/>
      <p:sp>
        <p:nvSpPr>
          <p:cNvPr id="1048719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104872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/>
      <p:sp>
        <p:nvSpPr>
          <p:cNvPr id="104869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104869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/>
      <p:sp>
        <p:nvSpPr>
          <p:cNvPr id="1048719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104872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/>
      <p:sp>
        <p:nvSpPr>
          <p:cNvPr id="1048739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104874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/>
      <p:sp>
        <p:nvSpPr>
          <p:cNvPr id="1048749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104875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/>
      <p:sp>
        <p:nvSpPr>
          <p:cNvPr id="1048739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104874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/>
      <p:sp>
        <p:nvSpPr>
          <p:cNvPr id="1048749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104875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2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1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1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1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81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32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3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3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83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3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3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3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4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84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4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4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4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4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4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4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84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07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0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80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51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85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3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54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55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5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5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85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0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21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22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23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2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82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27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2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2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8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0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11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1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1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8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9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59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9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57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75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5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84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78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8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8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78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779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780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81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8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99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00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0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02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0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0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80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9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9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9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5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5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89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79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79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9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9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62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6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76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6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6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68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76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7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7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7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77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7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7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90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59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5AD1B-D45C-4401-8AE8-1F0040B685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9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04886-4C27-4888-AD1A-AB430FB19B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.xml"/><Relationship Id="rId7" Type="http://schemas.openxmlformats.org/officeDocument/2006/relationships/tags" Target="../tags/tag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23.svg"/><Relationship Id="rId54" Type="http://schemas.openxmlformats.org/officeDocument/2006/relationships/notesSlide" Target="../notesSlides/notesSlide4.xml"/><Relationship Id="rId53" Type="http://schemas.openxmlformats.org/officeDocument/2006/relationships/slideLayout" Target="../slideLayouts/slideLayout1.xml"/><Relationship Id="rId52" Type="http://schemas.openxmlformats.org/officeDocument/2006/relationships/tags" Target="../tags/tag48.xml"/><Relationship Id="rId51" Type="http://schemas.openxmlformats.org/officeDocument/2006/relationships/tags" Target="../tags/tag47.xml"/><Relationship Id="rId50" Type="http://schemas.openxmlformats.org/officeDocument/2006/relationships/image" Target="../media/image25.png"/><Relationship Id="rId5" Type="http://schemas.openxmlformats.org/officeDocument/2006/relationships/image" Target="../media/image22.png"/><Relationship Id="rId49" Type="http://schemas.openxmlformats.org/officeDocument/2006/relationships/tags" Target="../tags/tag46.xml"/><Relationship Id="rId48" Type="http://schemas.openxmlformats.org/officeDocument/2006/relationships/tags" Target="../tags/tag45.xml"/><Relationship Id="rId47" Type="http://schemas.openxmlformats.org/officeDocument/2006/relationships/tags" Target="../tags/tag44.xml"/><Relationship Id="rId46" Type="http://schemas.openxmlformats.org/officeDocument/2006/relationships/tags" Target="../tags/tag43.xml"/><Relationship Id="rId45" Type="http://schemas.openxmlformats.org/officeDocument/2006/relationships/tags" Target="../tags/tag42.xml"/><Relationship Id="rId44" Type="http://schemas.openxmlformats.org/officeDocument/2006/relationships/tags" Target="../tags/tag41.xml"/><Relationship Id="rId43" Type="http://schemas.openxmlformats.org/officeDocument/2006/relationships/tags" Target="../tags/tag40.xml"/><Relationship Id="rId42" Type="http://schemas.openxmlformats.org/officeDocument/2006/relationships/tags" Target="../tags/tag39.xml"/><Relationship Id="rId41" Type="http://schemas.openxmlformats.org/officeDocument/2006/relationships/tags" Target="../tags/tag38.xml"/><Relationship Id="rId40" Type="http://schemas.openxmlformats.org/officeDocument/2006/relationships/tags" Target="../tags/tag37.xml"/><Relationship Id="rId4" Type="http://schemas.openxmlformats.org/officeDocument/2006/relationships/tags" Target="../tags/tag4.xml"/><Relationship Id="rId39" Type="http://schemas.openxmlformats.org/officeDocument/2006/relationships/tags" Target="../tags/tag36.xml"/><Relationship Id="rId38" Type="http://schemas.openxmlformats.org/officeDocument/2006/relationships/tags" Target="../tags/tag35.xml"/><Relationship Id="rId37" Type="http://schemas.openxmlformats.org/officeDocument/2006/relationships/tags" Target="../tags/tag34.xml"/><Relationship Id="rId36" Type="http://schemas.openxmlformats.org/officeDocument/2006/relationships/tags" Target="../tags/tag33.xml"/><Relationship Id="rId35" Type="http://schemas.openxmlformats.org/officeDocument/2006/relationships/tags" Target="../tags/tag32.xml"/><Relationship Id="rId34" Type="http://schemas.openxmlformats.org/officeDocument/2006/relationships/tags" Target="../tags/tag31.xml"/><Relationship Id="rId33" Type="http://schemas.openxmlformats.org/officeDocument/2006/relationships/tags" Target="../tags/tag30.xml"/><Relationship Id="rId32" Type="http://schemas.openxmlformats.org/officeDocument/2006/relationships/tags" Target="../tags/tag29.xml"/><Relationship Id="rId31" Type="http://schemas.openxmlformats.org/officeDocument/2006/relationships/tags" Target="../tags/tag28.xml"/><Relationship Id="rId30" Type="http://schemas.openxmlformats.org/officeDocument/2006/relationships/tags" Target="../tags/tag27.xml"/><Relationship Id="rId3" Type="http://schemas.openxmlformats.org/officeDocument/2006/relationships/tags" Target="../tags/tag3.xml"/><Relationship Id="rId29" Type="http://schemas.openxmlformats.org/officeDocument/2006/relationships/tags" Target="../tags/tag26.xml"/><Relationship Id="rId28" Type="http://schemas.openxmlformats.org/officeDocument/2006/relationships/tags" Target="../tags/tag25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image" Target="../media/image24.png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image" Target="../media/image21.pn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tags" Target="../tags/tag49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26.png"/><Relationship Id="rId2" Type="http://schemas.openxmlformats.org/officeDocument/2006/relationships/image" Target="../media/image30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image" Target="../media/image35.png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5.png"/><Relationship Id="rId11" Type="http://schemas.openxmlformats.org/officeDocument/2006/relationships/image" Target="../media/image37.png"/><Relationship Id="rId10" Type="http://schemas.openxmlformats.org/officeDocument/2006/relationships/image" Target="../media/image36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2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5.png"/><Relationship Id="rId2" Type="http://schemas.openxmlformats.org/officeDocument/2006/relationships/image" Target="../media/image47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7.png"/><Relationship Id="rId2" Type="http://schemas.openxmlformats.org/officeDocument/2006/relationships/image" Target="../media/image48.pn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9.png"/><Relationship Id="rId2" Type="http://schemas.openxmlformats.org/officeDocument/2006/relationships/image" Target="../media/image30.png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586" name="文本框 6"/>
          <p:cNvSpPr txBox="1"/>
          <p:nvPr/>
        </p:nvSpPr>
        <p:spPr>
          <a:xfrm>
            <a:off x="-102235" y="-23495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25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587" name="文本框 7"/>
          <p:cNvSpPr txBox="1"/>
          <p:nvPr/>
        </p:nvSpPr>
        <p:spPr>
          <a:xfrm>
            <a:off x="895985" y="1824565"/>
            <a:ext cx="9852792" cy="15392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Grover </a:t>
            </a:r>
            <a:endParaRPr lang="en-US" altLang="zh-CN" sz="48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48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量子搜索算法</a:t>
            </a:r>
            <a:endParaRPr lang="zh-CN" altLang="en-US" sz="48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3145728" name="直接连接符 9"/>
          <p:cNvCxnSpPr/>
          <p:nvPr/>
        </p:nvCxnSpPr>
        <p:spPr>
          <a:xfrm>
            <a:off x="997585" y="3392781"/>
            <a:ext cx="93091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599" name="文本框 6"/>
          <p:cNvSpPr txBox="1"/>
          <p:nvPr/>
        </p:nvSpPr>
        <p:spPr>
          <a:xfrm>
            <a:off x="-153035" y="-23495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600" name="矩形 14"/>
          <p:cNvSpPr/>
          <p:nvPr/>
        </p:nvSpPr>
        <p:spPr>
          <a:xfrm>
            <a:off x="1169604" y="714375"/>
            <a:ext cx="9852792" cy="54292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01" name="文本框 15"/>
          <p:cNvSpPr txBox="1"/>
          <p:nvPr/>
        </p:nvSpPr>
        <p:spPr>
          <a:xfrm>
            <a:off x="3397919" y="1914502"/>
            <a:ext cx="393700" cy="11582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02" name="文本框 16"/>
          <p:cNvSpPr txBox="1"/>
          <p:nvPr/>
        </p:nvSpPr>
        <p:spPr>
          <a:xfrm>
            <a:off x="2483687" y="1765300"/>
            <a:ext cx="982980" cy="34394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en-US" altLang="zh-CN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</a:rPr>
              <a:t>CONTEXT</a:t>
            </a:r>
            <a:endParaRPr lang="zh-CN" altLang="en-US" sz="5400" dirty="0">
              <a:solidFill>
                <a:schemeClr val="tx1">
                  <a:lumMod val="75000"/>
                  <a:lumOff val="25000"/>
                </a:schemeClr>
              </a:solidFill>
              <a:latin typeface="Franklin Gothic Demi" panose="020B0703020102020204" pitchFamily="34" charset="0"/>
            </a:endParaRPr>
          </a:p>
        </p:txBody>
      </p:sp>
      <p:cxnSp>
        <p:nvCxnSpPr>
          <p:cNvPr id="3145729" name="直接连接符 18"/>
          <p:cNvCxnSpPr/>
          <p:nvPr/>
        </p:nvCxnSpPr>
        <p:spPr>
          <a:xfrm>
            <a:off x="3347119" y="1877360"/>
            <a:ext cx="0" cy="82931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3" name="文本框 19"/>
          <p:cNvSpPr txBox="1"/>
          <p:nvPr/>
        </p:nvSpPr>
        <p:spPr>
          <a:xfrm>
            <a:off x="4473575" y="2070735"/>
            <a:ext cx="6021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算法介绍  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04" name="文本框 20"/>
          <p:cNvSpPr txBox="1"/>
          <p:nvPr/>
        </p:nvSpPr>
        <p:spPr>
          <a:xfrm>
            <a:off x="4509752" y="4681491"/>
            <a:ext cx="326772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代码实现 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05" name="文本框 23"/>
          <p:cNvSpPr txBox="1"/>
          <p:nvPr/>
        </p:nvSpPr>
        <p:spPr>
          <a:xfrm>
            <a:off x="4537710" y="3160395"/>
            <a:ext cx="58928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推导证明  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Derivation &amp; Proof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几何版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代数版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606" name="文本框 6"/>
          <p:cNvSpPr txBox="1"/>
          <p:nvPr/>
        </p:nvSpPr>
        <p:spPr>
          <a:xfrm>
            <a:off x="-102235" y="635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608" name="文本框 15"/>
          <p:cNvSpPr txBox="1"/>
          <p:nvPr/>
        </p:nvSpPr>
        <p:spPr>
          <a:xfrm>
            <a:off x="965200" y="534648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算法介绍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30" name="直接连接符 18"/>
          <p:cNvCxnSpPr/>
          <p:nvPr/>
        </p:nvCxnSpPr>
        <p:spPr>
          <a:xfrm flipH="1">
            <a:off x="1066799" y="1057868"/>
            <a:ext cx="103251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9" name="文本框 1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67063" y="1319189"/>
            <a:ext cx="10426702" cy="882650"/>
          </a:xfrm>
          <a:prstGeom prst="rect">
            <a:avLst/>
          </a:prstGeom>
          <a:blipFill rotWithShape="1">
            <a:blip r:embed="rId2"/>
            <a:stretch>
              <a:fillRect l="-3" t="-33" r="3" b="33"/>
            </a:stretch>
          </a:blipFill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048610" name="文本框 24"/>
          <p:cNvSpPr txBox="1"/>
          <p:nvPr/>
        </p:nvSpPr>
        <p:spPr>
          <a:xfrm>
            <a:off x="1067063" y="2518839"/>
            <a:ext cx="10426702" cy="11582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问题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举例：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要从一幅画中识判断某个颜色在不在这个画中。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(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这里比如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要找绿色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)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</p:txBody>
      </p:sp>
      <p:pic>
        <p:nvPicPr>
          <p:cNvPr id="2097155" name="图片 5"/>
          <p:cNvPicPr/>
          <p:nvPr/>
        </p:nvPicPr>
        <p:blipFill>
          <a:blip r:embed="rId3"/>
          <a:srcRect r="-153" b="13494"/>
          <a:stretch>
            <a:fillRect/>
          </a:stretch>
        </p:blipFill>
        <p:spPr>
          <a:xfrm>
            <a:off x="2790825" y="3334385"/>
            <a:ext cx="7302500" cy="33058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612" name="文本框 6"/>
          <p:cNvSpPr txBox="1"/>
          <p:nvPr/>
        </p:nvSpPr>
        <p:spPr>
          <a:xfrm>
            <a:off x="-102235" y="635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614" name="文本框 15"/>
          <p:cNvSpPr txBox="1"/>
          <p:nvPr/>
        </p:nvSpPr>
        <p:spPr>
          <a:xfrm>
            <a:off x="965200" y="534648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算法介绍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31" name="直接连接符 18"/>
          <p:cNvCxnSpPr/>
          <p:nvPr/>
        </p:nvCxnSpPr>
        <p:spPr>
          <a:xfrm flipH="1">
            <a:off x="1066799" y="1057868"/>
            <a:ext cx="103251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6" name="文本框 17"/>
          <p:cNvSpPr txBox="1"/>
          <p:nvPr/>
        </p:nvSpPr>
        <p:spPr>
          <a:xfrm>
            <a:off x="6132195" y="1162050"/>
            <a:ext cx="5170170" cy="3933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量子计算机：</a:t>
            </a:r>
            <a:endParaRPr lang="en-US" altLang="zh-CN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如果使用量子计算机，使用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Grover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算法借助量子叠加的特性和振幅放大的技巧。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就好像把所有色块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叠加到一起，使用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G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函数进行迭代。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每次迭代会增加目标图层的不透明度，然后降低非目标的不透明度。</a:t>
            </a:r>
            <a:endParaRPr lang="en-US" altLang="zh-CN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最终迭代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r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次之后再观测就只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剩下我们的目标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了。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</p:txBody>
      </p:sp>
      <p:sp>
        <p:nvSpPr>
          <p:cNvPr id="1048617" name="文本框 24"/>
          <p:cNvSpPr txBox="1"/>
          <p:nvPr/>
        </p:nvSpPr>
        <p:spPr>
          <a:xfrm>
            <a:off x="1031240" y="1162050"/>
            <a:ext cx="5064760" cy="2731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经典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计算机：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sym typeface="+mn-ea"/>
              </a:rPr>
              <a:t>如果使用经典计算机，需要每个色块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sym typeface="+mn-ea"/>
              </a:rPr>
              <a:t>进行遍历。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sym typeface="+mn-ea"/>
              </a:rPr>
              <a:t>运气好的话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sym typeface="+mn-ea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sym typeface="+mn-ea"/>
              </a:rPr>
              <a:t>次就找到了，运气不好的话需要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sym typeface="+mn-ea"/>
              </a:rPr>
              <a:t>n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sym typeface="+mn-ea"/>
              </a:rPr>
              <a:t>次，平均下来大概是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sym typeface="+mn-ea"/>
              </a:rPr>
              <a:t>n/2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sym typeface="+mn-ea"/>
              </a:rPr>
              <a:t>次。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sym typeface="+mn-ea"/>
              </a:rPr>
              <a:t>所以复杂度是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sym typeface="+mn-ea"/>
              </a:rPr>
              <a:t>O(n)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</p:txBody>
      </p:sp>
      <p:pic>
        <p:nvPicPr>
          <p:cNvPr id="2097157" name="图片 5"/>
          <p:cNvPicPr/>
          <p:nvPr/>
        </p:nvPicPr>
        <p:blipFill>
          <a:blip r:embed="rId2"/>
          <a:srcRect l="16472" r="22343" b="30683"/>
          <a:stretch>
            <a:fillRect/>
          </a:stretch>
        </p:blipFill>
        <p:spPr>
          <a:xfrm>
            <a:off x="6429375" y="2744470"/>
            <a:ext cx="4196080" cy="1250950"/>
          </a:xfrm>
          <a:prstGeom prst="rect">
            <a:avLst/>
          </a:prstGeom>
        </p:spPr>
      </p:pic>
      <p:pic>
        <p:nvPicPr>
          <p:cNvPr id="2097158" name="图片 7"/>
          <p:cNvPicPr/>
          <p:nvPr/>
        </p:nvPicPr>
        <p:blipFill>
          <a:blip r:embed="rId3"/>
          <a:srcRect l="25843" r="27481"/>
          <a:stretch>
            <a:fillRect/>
          </a:stretch>
        </p:blipFill>
        <p:spPr>
          <a:xfrm>
            <a:off x="1767205" y="2385060"/>
            <a:ext cx="3201035" cy="1203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624" name="文本框 6"/>
          <p:cNvSpPr txBox="1"/>
          <p:nvPr/>
        </p:nvSpPr>
        <p:spPr>
          <a:xfrm>
            <a:off x="-102235" y="635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626" name="文本框 15"/>
          <p:cNvSpPr txBox="1"/>
          <p:nvPr/>
        </p:nvSpPr>
        <p:spPr>
          <a:xfrm>
            <a:off x="965200" y="323193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算法介绍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33" name="直接连接符 18"/>
          <p:cNvCxnSpPr/>
          <p:nvPr/>
        </p:nvCxnSpPr>
        <p:spPr>
          <a:xfrm flipH="1">
            <a:off x="1066799" y="846413"/>
            <a:ext cx="103251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27" name="文本框 17"/>
          <p:cNvSpPr txBox="1"/>
          <p:nvPr/>
        </p:nvSpPr>
        <p:spPr>
          <a:xfrm>
            <a:off x="1067063" y="932474"/>
            <a:ext cx="10426702" cy="5425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前置补充：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|0&gt;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为激发态，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|1&gt;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为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基态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设有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任意量子态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|a&gt;,|b&gt;</a:t>
            </a:r>
            <a:endParaRPr lang="en-US" altLang="zh-CN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|a&gt;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为右矢一般为行向量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[a1,a2]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，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&lt;a|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为左矢一般为列向量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[a1</a:t>
            </a:r>
            <a:r>
              <a:rPr lang="en-US" altLang="zh-CN" sz="2400" b="1" baseline="3000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*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,a2</a:t>
            </a:r>
            <a:r>
              <a:rPr lang="en-US" altLang="zh-CN" sz="2400" b="1" baseline="3000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*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]*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，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左右矢满足共轭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转置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a1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的共轭复数为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a1</a:t>
            </a:r>
            <a:r>
              <a:rPr lang="en-US" altLang="zh-CN" sz="2400" b="1" baseline="3000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*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|a&gt;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与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|b&gt;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内积为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:&lt;a|b&gt;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，外积为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:|a&gt;&lt;b|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每个量子态默认为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相互正交归一化的。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即有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&lt;b|a&gt;=0,&lt;a|a&gt;=1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每个操作门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M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是幺正矩阵。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即有</a:t>
            </a:r>
            <a:r>
              <a:rPr lang="en-US" altLang="zh-CN" sz="2400" b="1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</a:rPr>
              <a:t>MM</a:t>
            </a:r>
            <a:r>
              <a:rPr lang="en-US" altLang="zh-CN" sz="2400" b="1" baseline="300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</a:rPr>
              <a:t>+</a:t>
            </a:r>
            <a:r>
              <a:rPr lang="en-US" altLang="zh-CN" sz="2400" b="1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</a:rPr>
              <a:t>=I</a:t>
            </a:r>
            <a:endParaRPr lang="en-US" altLang="zh-CN" sz="2400" b="1" dirty="0">
              <a:solidFill>
                <a:schemeClr val="bg1"/>
              </a:solidFill>
              <a:latin typeface="等线 Light" panose="02010600030101010101" charset="-122"/>
              <a:ea typeface="等线 Light" panose="02010600030101010101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</a:rPr>
              <a:t>操作门作用于一个量子态</a:t>
            </a:r>
            <a:r>
              <a:rPr lang="en-US" altLang="zh-CN" sz="2400" b="1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</a:rPr>
              <a:t>:M|a&gt;=|c&gt;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叠加态：一个量子态由多个量子态线性叠加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组成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克洛克内积：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|a&gt; ⊗|b&gt;=|ab&gt;</a:t>
            </a:r>
            <a:endParaRPr lang="en-US" altLang="zh-CN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628" name="文本框 6"/>
          <p:cNvSpPr txBox="1"/>
          <p:nvPr/>
        </p:nvSpPr>
        <p:spPr>
          <a:xfrm>
            <a:off x="-102235" y="635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630" name="文本框 15"/>
          <p:cNvSpPr txBox="1"/>
          <p:nvPr/>
        </p:nvSpPr>
        <p:spPr>
          <a:xfrm>
            <a:off x="965200" y="277473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算法介绍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34" name="直接连接符 18"/>
          <p:cNvCxnSpPr/>
          <p:nvPr/>
        </p:nvCxnSpPr>
        <p:spPr>
          <a:xfrm flipH="1">
            <a:off x="1066799" y="800693"/>
            <a:ext cx="103251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31" name="文本框 17"/>
          <p:cNvSpPr txBox="1"/>
          <p:nvPr/>
        </p:nvSpPr>
        <p:spPr>
          <a:xfrm>
            <a:off x="1067063" y="1062014"/>
            <a:ext cx="10426702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Grover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算法图示如下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:</a:t>
            </a:r>
            <a:endParaRPr lang="en-US" altLang="zh-CN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篮框中的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H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门是用来制备叠加态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的。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红框中的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G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即为每次迭代的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函数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经过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k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次迭代后最后测得目标的概率就是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100%</a:t>
            </a:r>
            <a:endParaRPr lang="en-US" altLang="zh-CN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</p:txBody>
      </p:sp>
      <p:pic>
        <p:nvPicPr>
          <p:cNvPr id="2097162" name="图片 4"/>
          <p:cNvPicPr/>
          <p:nvPr/>
        </p:nvPicPr>
        <p:blipFill>
          <a:blip r:embed="rId2"/>
          <a:srcRect b="31998"/>
          <a:stretch>
            <a:fillRect/>
          </a:stretch>
        </p:blipFill>
        <p:spPr>
          <a:xfrm>
            <a:off x="1600835" y="2676525"/>
            <a:ext cx="8900795" cy="38360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628" name="文本框 6"/>
          <p:cNvSpPr txBox="1"/>
          <p:nvPr/>
        </p:nvSpPr>
        <p:spPr>
          <a:xfrm>
            <a:off x="-102235" y="635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630" name="文本框 15"/>
          <p:cNvSpPr txBox="1"/>
          <p:nvPr/>
        </p:nvSpPr>
        <p:spPr>
          <a:xfrm>
            <a:off x="965200" y="277473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算法介绍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34" name="直接连接符 18"/>
          <p:cNvCxnSpPr/>
          <p:nvPr/>
        </p:nvCxnSpPr>
        <p:spPr>
          <a:xfrm flipH="1">
            <a:off x="1066799" y="800693"/>
            <a:ext cx="103251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31" name="文本框 17"/>
          <p:cNvSpPr txBox="1"/>
          <p:nvPr/>
        </p:nvSpPr>
        <p:spPr>
          <a:xfrm>
            <a:off x="1067063" y="1062014"/>
            <a:ext cx="1042670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G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门分为两个步骤分别为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U</a:t>
            </a:r>
            <a:r>
              <a:rPr lang="en-US" altLang="zh-CN" sz="2400" b="1" baseline="-2500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f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和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V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来实现：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U</a:t>
            </a:r>
            <a:r>
              <a:rPr lang="en-US" altLang="zh-CN" sz="2400" b="1" baseline="-2500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f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门用来反转目标量子态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(O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racle)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sym typeface="+mn-ea"/>
              </a:rPr>
              <a:t>V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sym typeface="+mn-ea"/>
              </a:rPr>
              <a:t>门让组成量子态的所有基态都关于输入态的平均值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sym typeface="+mn-ea"/>
              </a:rPr>
              <a:t>反转</a:t>
            </a:r>
            <a:endParaRPr lang="zh-CN" altLang="en-US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sym typeface="+mn-ea"/>
            </a:endParaRPr>
          </a:p>
        </p:txBody>
      </p: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1715135" y="2324100"/>
            <a:ext cx="9122410" cy="4283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632" name="文本框 6"/>
          <p:cNvSpPr txBox="1"/>
          <p:nvPr/>
        </p:nvSpPr>
        <p:spPr>
          <a:xfrm>
            <a:off x="-102235" y="635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633" name="文本框 3"/>
          <p:cNvSpPr txBox="1"/>
          <p:nvPr/>
        </p:nvSpPr>
        <p:spPr>
          <a:xfrm>
            <a:off x="294005" y="114278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35" name="直接连接符 5"/>
          <p:cNvCxnSpPr/>
          <p:nvPr/>
        </p:nvCxnSpPr>
        <p:spPr>
          <a:xfrm>
            <a:off x="347344" y="636228"/>
            <a:ext cx="116306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34" name="矩形: 圆角 12"/>
          <p:cNvSpPr/>
          <p:nvPr/>
        </p:nvSpPr>
        <p:spPr>
          <a:xfrm>
            <a:off x="347345" y="732790"/>
            <a:ext cx="11621770" cy="5954395"/>
          </a:xfrm>
          <a:prstGeom prst="roundRect">
            <a:avLst>
              <a:gd name="adj" fmla="val 35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35" name="矩形 7"/>
          <p:cNvSpPr/>
          <p:nvPr/>
        </p:nvSpPr>
        <p:spPr>
          <a:xfrm>
            <a:off x="1169601" y="815544"/>
            <a:ext cx="10417248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解决搜索问题：从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N=2</a:t>
            </a:r>
            <a:r>
              <a:rPr lang="en-US" altLang="zh-CN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个元素中找到目标元素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w.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36" name="文本框 8"/>
          <p:cNvSpPr txBox="1"/>
          <p:nvPr/>
        </p:nvSpPr>
        <p:spPr>
          <a:xfrm>
            <a:off x="1169601" y="1331780"/>
            <a:ext cx="10222298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满足映射关系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                                  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则有：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         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细节流程图：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097164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810" y="1461770"/>
            <a:ext cx="2433320" cy="336550"/>
          </a:xfrm>
          <a:prstGeom prst="rect">
            <a:avLst/>
          </a:prstGeom>
        </p:spPr>
      </p:pic>
      <p:pic>
        <p:nvPicPr>
          <p:cNvPr id="2097165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755" y="1247140"/>
            <a:ext cx="2393315" cy="765810"/>
          </a:xfrm>
          <a:prstGeom prst="rect">
            <a:avLst/>
          </a:prstGeom>
        </p:spPr>
      </p:pic>
      <p:sp>
        <p:nvSpPr>
          <p:cNvPr id="1048637" name="矩形 11"/>
          <p:cNvSpPr/>
          <p:nvPr/>
        </p:nvSpPr>
        <p:spPr>
          <a:xfrm>
            <a:off x="1296670" y="4580255"/>
            <a:ext cx="917575" cy="73723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|0&gt;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38" name="矩形 13"/>
          <p:cNvSpPr/>
          <p:nvPr/>
        </p:nvSpPr>
        <p:spPr>
          <a:xfrm>
            <a:off x="1296670" y="2837180"/>
            <a:ext cx="917575" cy="73723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|0&gt;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39" name="矩形 16"/>
          <p:cNvSpPr/>
          <p:nvPr/>
        </p:nvSpPr>
        <p:spPr>
          <a:xfrm>
            <a:off x="1296670" y="3528060"/>
            <a:ext cx="917575" cy="73533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36" name="直接连接符 22"/>
          <p:cNvCxnSpPr/>
          <p:nvPr/>
        </p:nvCxnSpPr>
        <p:spPr>
          <a:xfrm>
            <a:off x="1958975" y="3272155"/>
            <a:ext cx="7882890" cy="0"/>
          </a:xfrm>
          <a:prstGeom prst="line">
            <a:avLst/>
          </a:prstGeom>
          <a:ln w="63500">
            <a:solidFill>
              <a:srgbClr val="171D2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8640" name="矩形 14"/>
          <p:cNvSpPr/>
          <p:nvPr/>
        </p:nvSpPr>
        <p:spPr>
          <a:xfrm>
            <a:off x="2426970" y="3004820"/>
            <a:ext cx="682625" cy="6343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lt1"/>
                </a:solidFill>
              </a:rPr>
              <a:t>H</a:t>
            </a:r>
            <a:endParaRPr lang="en-US" altLang="zh-CN" sz="3200" b="1">
              <a:solidFill>
                <a:schemeClr val="lt1"/>
              </a:solidFill>
            </a:endParaRPr>
          </a:p>
        </p:txBody>
      </p:sp>
      <p:cxnSp>
        <p:nvCxnSpPr>
          <p:cNvPr id="3145737" name="直接连接符 24"/>
          <p:cNvCxnSpPr/>
          <p:nvPr/>
        </p:nvCxnSpPr>
        <p:spPr>
          <a:xfrm>
            <a:off x="1958975" y="5089525"/>
            <a:ext cx="7882890" cy="0"/>
          </a:xfrm>
          <a:prstGeom prst="line">
            <a:avLst/>
          </a:prstGeom>
          <a:ln w="63500">
            <a:solidFill>
              <a:srgbClr val="171D2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8641" name="矩形 19"/>
          <p:cNvSpPr/>
          <p:nvPr/>
        </p:nvSpPr>
        <p:spPr>
          <a:xfrm>
            <a:off x="2426970" y="4683125"/>
            <a:ext cx="682625" cy="6343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lt1"/>
                </a:solidFill>
              </a:rPr>
              <a:t>H</a:t>
            </a:r>
            <a:endParaRPr lang="en-US" altLang="zh-CN" sz="3200" b="1">
              <a:solidFill>
                <a:schemeClr val="lt1"/>
              </a:solidFill>
            </a:endParaRPr>
          </a:p>
        </p:txBody>
      </p:sp>
      <p:sp>
        <p:nvSpPr>
          <p:cNvPr id="1048642" name="矩形 20"/>
          <p:cNvSpPr/>
          <p:nvPr/>
        </p:nvSpPr>
        <p:spPr>
          <a:xfrm>
            <a:off x="2426970" y="3528060"/>
            <a:ext cx="917575" cy="73533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43" name="矩形 21"/>
          <p:cNvSpPr/>
          <p:nvPr/>
        </p:nvSpPr>
        <p:spPr>
          <a:xfrm>
            <a:off x="3557270" y="2948940"/>
            <a:ext cx="1162685" cy="23977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800"/>
              <a:t>U</a:t>
            </a:r>
            <a:r>
              <a:rPr lang="en-US" altLang="zh-CN" sz="4800" baseline="-25000"/>
              <a:t>f</a:t>
            </a:r>
            <a:endParaRPr lang="en-US" altLang="zh-CN" sz="4800" baseline="-25000"/>
          </a:p>
        </p:txBody>
      </p:sp>
      <p:sp>
        <p:nvSpPr>
          <p:cNvPr id="1048644" name="矩形 25"/>
          <p:cNvSpPr/>
          <p:nvPr/>
        </p:nvSpPr>
        <p:spPr>
          <a:xfrm>
            <a:off x="5152390" y="3004820"/>
            <a:ext cx="682625" cy="6343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lt1"/>
                </a:solidFill>
              </a:rPr>
              <a:t>H</a:t>
            </a:r>
            <a:endParaRPr lang="en-US" altLang="zh-CN" sz="3200" b="1">
              <a:solidFill>
                <a:schemeClr val="lt1"/>
              </a:solidFill>
            </a:endParaRPr>
          </a:p>
        </p:txBody>
      </p:sp>
      <p:sp>
        <p:nvSpPr>
          <p:cNvPr id="1048645" name="矩形 26"/>
          <p:cNvSpPr/>
          <p:nvPr/>
        </p:nvSpPr>
        <p:spPr>
          <a:xfrm>
            <a:off x="5152390" y="4683125"/>
            <a:ext cx="682625" cy="6343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lt1"/>
                </a:solidFill>
              </a:rPr>
              <a:t>H</a:t>
            </a:r>
            <a:endParaRPr lang="en-US" altLang="zh-CN" sz="3200" b="1">
              <a:solidFill>
                <a:schemeClr val="lt1"/>
              </a:solidFill>
            </a:endParaRPr>
          </a:p>
        </p:txBody>
      </p:sp>
      <p:sp>
        <p:nvSpPr>
          <p:cNvPr id="1048646" name="矩形 27"/>
          <p:cNvSpPr/>
          <p:nvPr/>
        </p:nvSpPr>
        <p:spPr>
          <a:xfrm>
            <a:off x="6267450" y="2948940"/>
            <a:ext cx="1162685" cy="239776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800"/>
              <a:t>U</a:t>
            </a:r>
            <a:r>
              <a:rPr lang="en-US" altLang="zh-CN" sz="4800" baseline="-25000"/>
              <a:t>f0</a:t>
            </a:r>
            <a:endParaRPr lang="en-US" altLang="zh-CN" sz="4800" baseline="-25000"/>
          </a:p>
        </p:txBody>
      </p:sp>
      <p:sp>
        <p:nvSpPr>
          <p:cNvPr id="1048647" name="矩形 28"/>
          <p:cNvSpPr/>
          <p:nvPr/>
        </p:nvSpPr>
        <p:spPr>
          <a:xfrm>
            <a:off x="7877810" y="3004820"/>
            <a:ext cx="682625" cy="6343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lt1"/>
                </a:solidFill>
              </a:rPr>
              <a:t>H</a:t>
            </a:r>
            <a:endParaRPr lang="en-US" altLang="zh-CN" sz="3200" b="1">
              <a:solidFill>
                <a:schemeClr val="lt1"/>
              </a:solidFill>
            </a:endParaRPr>
          </a:p>
        </p:txBody>
      </p:sp>
      <p:sp>
        <p:nvSpPr>
          <p:cNvPr id="1048648" name="矩形 29"/>
          <p:cNvSpPr/>
          <p:nvPr/>
        </p:nvSpPr>
        <p:spPr>
          <a:xfrm>
            <a:off x="7877810" y="4683125"/>
            <a:ext cx="682625" cy="6343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lt1"/>
                </a:solidFill>
              </a:rPr>
              <a:t>H</a:t>
            </a:r>
            <a:endParaRPr lang="en-US" altLang="zh-CN" sz="3200" b="1">
              <a:solidFill>
                <a:schemeClr val="lt1"/>
              </a:solidFill>
            </a:endParaRPr>
          </a:p>
        </p:txBody>
      </p:sp>
      <p:sp>
        <p:nvSpPr>
          <p:cNvPr id="1048649" name="矩形 31"/>
          <p:cNvSpPr/>
          <p:nvPr/>
        </p:nvSpPr>
        <p:spPr>
          <a:xfrm>
            <a:off x="3390900" y="2736215"/>
            <a:ext cx="5974715" cy="2900045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50" name="文本框 32"/>
          <p:cNvSpPr txBox="1"/>
          <p:nvPr/>
        </p:nvSpPr>
        <p:spPr>
          <a:xfrm>
            <a:off x="7934960" y="4117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048651" name="矩形 33"/>
          <p:cNvSpPr/>
          <p:nvPr/>
        </p:nvSpPr>
        <p:spPr>
          <a:xfrm>
            <a:off x="8762365" y="3748405"/>
            <a:ext cx="509905" cy="73723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52" name="矩形 34"/>
          <p:cNvSpPr/>
          <p:nvPr/>
        </p:nvSpPr>
        <p:spPr>
          <a:xfrm>
            <a:off x="4998720" y="2881630"/>
            <a:ext cx="3687445" cy="262318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53" name="矩形 35"/>
          <p:cNvSpPr/>
          <p:nvPr/>
        </p:nvSpPr>
        <p:spPr>
          <a:xfrm>
            <a:off x="5389245" y="5504815"/>
            <a:ext cx="2667000" cy="514985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     </a:t>
            </a: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54" name="矩形 36"/>
          <p:cNvSpPr/>
          <p:nvPr/>
        </p:nvSpPr>
        <p:spPr>
          <a:xfrm>
            <a:off x="506095" y="3639185"/>
            <a:ext cx="917575" cy="73723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55" name="矩形 2"/>
          <p:cNvSpPr/>
          <p:nvPr/>
        </p:nvSpPr>
        <p:spPr>
          <a:xfrm>
            <a:off x="5034915" y="3574415"/>
            <a:ext cx="917575" cy="73533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56" name="矩形 4"/>
          <p:cNvSpPr/>
          <p:nvPr/>
        </p:nvSpPr>
        <p:spPr>
          <a:xfrm>
            <a:off x="7745095" y="3574415"/>
            <a:ext cx="917575" cy="73533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659" name="文本框 6"/>
          <p:cNvSpPr txBox="1"/>
          <p:nvPr/>
        </p:nvSpPr>
        <p:spPr>
          <a:xfrm>
            <a:off x="-102235" y="0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660" name="文本框 3"/>
          <p:cNvSpPr txBox="1"/>
          <p:nvPr/>
        </p:nvSpPr>
        <p:spPr>
          <a:xfrm>
            <a:off x="294005" y="114278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38" name="直接连接符 5"/>
          <p:cNvCxnSpPr/>
          <p:nvPr/>
        </p:nvCxnSpPr>
        <p:spPr>
          <a:xfrm>
            <a:off x="347344" y="636228"/>
            <a:ext cx="116306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61" name="矩形: 圆角 12"/>
          <p:cNvSpPr/>
          <p:nvPr/>
        </p:nvSpPr>
        <p:spPr>
          <a:xfrm>
            <a:off x="347345" y="732790"/>
            <a:ext cx="11621770" cy="5954395"/>
          </a:xfrm>
          <a:prstGeom prst="roundRect">
            <a:avLst>
              <a:gd name="adj" fmla="val 35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62" name="文本框 32"/>
          <p:cNvSpPr txBox="1"/>
          <p:nvPr/>
        </p:nvSpPr>
        <p:spPr>
          <a:xfrm>
            <a:off x="7934960" y="4117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048663" name="矩形 4"/>
          <p:cNvSpPr/>
          <p:nvPr/>
        </p:nvSpPr>
        <p:spPr>
          <a:xfrm>
            <a:off x="1219200" y="2134235"/>
            <a:ext cx="845185" cy="6197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|0&gt;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64" name="矩形 15"/>
          <p:cNvSpPr/>
          <p:nvPr/>
        </p:nvSpPr>
        <p:spPr>
          <a:xfrm>
            <a:off x="1219200" y="877570"/>
            <a:ext cx="845185" cy="6197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|0&gt;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65" name="矩形 17"/>
          <p:cNvSpPr/>
          <p:nvPr/>
        </p:nvSpPr>
        <p:spPr>
          <a:xfrm>
            <a:off x="1219200" y="1497330"/>
            <a:ext cx="845185" cy="617855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39" name="直接连接符 30"/>
          <p:cNvCxnSpPr/>
          <p:nvPr/>
        </p:nvCxnSpPr>
        <p:spPr>
          <a:xfrm flipV="1">
            <a:off x="1910715" y="1327150"/>
            <a:ext cx="1601470" cy="7620"/>
          </a:xfrm>
          <a:prstGeom prst="line">
            <a:avLst/>
          </a:prstGeom>
          <a:ln w="63500">
            <a:solidFill>
              <a:srgbClr val="171D2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5740" name="直接连接符 37"/>
          <p:cNvCxnSpPr/>
          <p:nvPr/>
        </p:nvCxnSpPr>
        <p:spPr>
          <a:xfrm flipV="1">
            <a:off x="1910715" y="2632075"/>
            <a:ext cx="1601470" cy="7620"/>
          </a:xfrm>
          <a:prstGeom prst="line">
            <a:avLst/>
          </a:prstGeom>
          <a:ln w="63500">
            <a:solidFill>
              <a:srgbClr val="171D2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8666" name="矩形 18"/>
          <p:cNvSpPr/>
          <p:nvPr/>
        </p:nvSpPr>
        <p:spPr>
          <a:xfrm>
            <a:off x="2349500" y="1045210"/>
            <a:ext cx="628650" cy="533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lt1"/>
                </a:solidFill>
              </a:rPr>
              <a:t>H</a:t>
            </a:r>
            <a:endParaRPr lang="en-US" altLang="zh-CN" sz="3200" b="1">
              <a:solidFill>
                <a:schemeClr val="lt1"/>
              </a:solidFill>
            </a:endParaRPr>
          </a:p>
        </p:txBody>
      </p:sp>
      <p:sp>
        <p:nvSpPr>
          <p:cNvPr id="1048667" name="矩形 23"/>
          <p:cNvSpPr/>
          <p:nvPr/>
        </p:nvSpPr>
        <p:spPr>
          <a:xfrm>
            <a:off x="2349500" y="2428875"/>
            <a:ext cx="628650" cy="533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lt1"/>
                </a:solidFill>
              </a:rPr>
              <a:t>H</a:t>
            </a:r>
            <a:endParaRPr lang="en-US" altLang="zh-CN" sz="3200" b="1">
              <a:solidFill>
                <a:schemeClr val="lt1"/>
              </a:solidFill>
            </a:endParaRPr>
          </a:p>
        </p:txBody>
      </p:sp>
      <p:cxnSp>
        <p:nvCxnSpPr>
          <p:cNvPr id="3145741" name="直接连接符 38"/>
          <p:cNvCxnSpPr/>
          <p:nvPr/>
        </p:nvCxnSpPr>
        <p:spPr>
          <a:xfrm>
            <a:off x="2145030" y="883285"/>
            <a:ext cx="0" cy="2116455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5742" name="直接连接符 39"/>
          <p:cNvCxnSpPr/>
          <p:nvPr/>
        </p:nvCxnSpPr>
        <p:spPr>
          <a:xfrm>
            <a:off x="3263265" y="883285"/>
            <a:ext cx="0" cy="2116455"/>
          </a:xfrm>
          <a:prstGeom prst="line">
            <a:avLst/>
          </a:prstGeom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8668" name="矩形 40"/>
          <p:cNvSpPr/>
          <p:nvPr/>
        </p:nvSpPr>
        <p:spPr>
          <a:xfrm>
            <a:off x="1722120" y="3107055"/>
            <a:ext cx="976630" cy="6197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|S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69" name="矩形 41"/>
          <p:cNvSpPr/>
          <p:nvPr/>
        </p:nvSpPr>
        <p:spPr>
          <a:xfrm>
            <a:off x="2840990" y="3107055"/>
            <a:ext cx="845185" cy="6197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|S&gt;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70" name="矩形 42"/>
          <p:cNvSpPr/>
          <p:nvPr/>
        </p:nvSpPr>
        <p:spPr>
          <a:xfrm>
            <a:off x="452755" y="3991610"/>
            <a:ext cx="5088890" cy="2411095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|S</a:t>
            </a:r>
            <a:r>
              <a:rPr lang="en-US" altLang="zh-CN" sz="28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97167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4194175"/>
            <a:ext cx="3638550" cy="1687195"/>
          </a:xfrm>
          <a:prstGeom prst="rect">
            <a:avLst/>
          </a:prstGeom>
        </p:spPr>
      </p:pic>
      <p:sp>
        <p:nvSpPr>
          <p:cNvPr id="1048671" name="矩形 46"/>
          <p:cNvSpPr/>
          <p:nvPr/>
        </p:nvSpPr>
        <p:spPr>
          <a:xfrm>
            <a:off x="4939665" y="5099050"/>
            <a:ext cx="845185" cy="6197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|S&gt;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97168" name="图片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730" y="5099050"/>
            <a:ext cx="2383155" cy="1111885"/>
          </a:xfrm>
          <a:prstGeom prst="rect">
            <a:avLst/>
          </a:prstGeom>
        </p:spPr>
      </p:pic>
      <p:pic>
        <p:nvPicPr>
          <p:cNvPr id="2097169" name="图片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575" y="5266055"/>
            <a:ext cx="2383155" cy="615315"/>
          </a:xfrm>
          <a:prstGeom prst="rect">
            <a:avLst/>
          </a:prstGeom>
        </p:spPr>
      </p:pic>
      <p:sp>
        <p:nvSpPr>
          <p:cNvPr id="1048672" name="文本框 51"/>
          <p:cNvSpPr txBox="1"/>
          <p:nvPr/>
        </p:nvSpPr>
        <p:spPr>
          <a:xfrm>
            <a:off x="4904105" y="1026795"/>
            <a:ext cx="51555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|S&gt;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条线路，先取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=2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48673" name="文本框 2"/>
          <p:cNvSpPr txBox="1"/>
          <p:nvPr/>
        </p:nvSpPr>
        <p:spPr>
          <a:xfrm>
            <a:off x="4904105" y="4531360"/>
            <a:ext cx="51555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再求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线路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48674" name="矩形 7"/>
          <p:cNvSpPr/>
          <p:nvPr/>
        </p:nvSpPr>
        <p:spPr>
          <a:xfrm>
            <a:off x="2298700" y="1548765"/>
            <a:ext cx="730250" cy="73533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97170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7280" y="1656080"/>
            <a:ext cx="4544695" cy="2502535"/>
          </a:xfrm>
          <a:prstGeom prst="rect">
            <a:avLst/>
          </a:prstGeom>
        </p:spPr>
      </p:pic>
      <p:pic>
        <p:nvPicPr>
          <p:cNvPr id="2097171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0655" y="1496060"/>
            <a:ext cx="2870200" cy="1932940"/>
          </a:xfrm>
          <a:prstGeom prst="rect">
            <a:avLst/>
          </a:prstGeom>
        </p:spPr>
      </p:pic>
      <p:sp>
        <p:nvSpPr>
          <p:cNvPr id="1048675" name="矩形 34"/>
          <p:cNvSpPr/>
          <p:nvPr>
            <p:custDataLst>
              <p:tags r:id="rId7"/>
            </p:custDataLst>
          </p:nvPr>
        </p:nvSpPr>
        <p:spPr>
          <a:xfrm>
            <a:off x="6142990" y="2049780"/>
            <a:ext cx="708660" cy="42545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76" name="矩形 10"/>
          <p:cNvSpPr/>
          <p:nvPr>
            <p:custDataLst>
              <p:tags r:id="rId8"/>
            </p:custDataLst>
          </p:nvPr>
        </p:nvSpPr>
        <p:spPr>
          <a:xfrm>
            <a:off x="9050655" y="1496060"/>
            <a:ext cx="2870200" cy="193294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8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694" name="文本框 6"/>
          <p:cNvSpPr txBox="1"/>
          <p:nvPr/>
        </p:nvSpPr>
        <p:spPr>
          <a:xfrm>
            <a:off x="-102235" y="0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695" name="文本框 3"/>
          <p:cNvSpPr txBox="1"/>
          <p:nvPr/>
        </p:nvSpPr>
        <p:spPr>
          <a:xfrm>
            <a:off x="294005" y="114278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44" name="直接连接符 5"/>
          <p:cNvCxnSpPr/>
          <p:nvPr/>
        </p:nvCxnSpPr>
        <p:spPr>
          <a:xfrm>
            <a:off x="347344" y="636228"/>
            <a:ext cx="116306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96" name="矩形: 圆角 12"/>
          <p:cNvSpPr/>
          <p:nvPr/>
        </p:nvSpPr>
        <p:spPr>
          <a:xfrm>
            <a:off x="347345" y="732790"/>
            <a:ext cx="11621770" cy="5954395"/>
          </a:xfrm>
          <a:prstGeom prst="roundRect">
            <a:avLst>
              <a:gd name="adj" fmla="val 35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46" name="文本框 10"/>
          <p:cNvSpPr txBox="1"/>
          <p:nvPr/>
        </p:nvSpPr>
        <p:spPr>
          <a:xfrm>
            <a:off x="528955" y="897890"/>
            <a:ext cx="1144016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镜像反转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算符：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针对于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</a:t>
            </a:r>
            <a:r>
              <a:rPr lang="en-US" altLang="zh-CN" sz="28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的作用，引入一个任意量子态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和与其正交的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量子态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组成的平面，其中任意量子态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|x&gt;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可表示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为：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65235" r="18391" b="49487"/>
          <a:stretch>
            <a:fillRect/>
          </a:stretch>
        </p:blipFill>
        <p:spPr>
          <a:xfrm>
            <a:off x="7350125" y="1356360"/>
            <a:ext cx="450215" cy="4845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88185" b="69178"/>
          <a:stretch>
            <a:fillRect/>
          </a:stretch>
        </p:blipFill>
        <p:spPr>
          <a:xfrm>
            <a:off x="11121390" y="1356360"/>
            <a:ext cx="731520" cy="466090"/>
          </a:xfrm>
          <a:prstGeom prst="rect">
            <a:avLst/>
          </a:prstGeom>
        </p:spPr>
      </p:pic>
      <p:pic>
        <p:nvPicPr>
          <p:cNvPr id="12" name="图片 11" descr="坐标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68640" y="2040255"/>
            <a:ext cx="2778125" cy="27781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5455" y="2421255"/>
            <a:ext cx="3729990" cy="571500"/>
          </a:xfrm>
          <a:prstGeom prst="rect">
            <a:avLst/>
          </a:prstGeom>
        </p:spPr>
      </p:pic>
      <p:sp>
        <p:nvSpPr>
          <p:cNvPr id="7" name="文本框 10"/>
          <p:cNvSpPr txBox="1"/>
          <p:nvPr/>
        </p:nvSpPr>
        <p:spPr>
          <a:xfrm>
            <a:off x="412750" y="3132455"/>
            <a:ext cx="114401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则定义两个算符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430" y="3175635"/>
            <a:ext cx="3063240" cy="1068705"/>
          </a:xfrm>
          <a:prstGeom prst="rect">
            <a:avLst/>
          </a:prstGeom>
        </p:spPr>
      </p:pic>
      <p:sp>
        <p:nvSpPr>
          <p:cNvPr id="9" name="文本框 10"/>
          <p:cNvSpPr txBox="1"/>
          <p:nvPr/>
        </p:nvSpPr>
        <p:spPr>
          <a:xfrm>
            <a:off x="412750" y="4296410"/>
            <a:ext cx="114401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作用与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|x&gt;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           </a:t>
            </a: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作用于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|x&gt;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" y="5048250"/>
            <a:ext cx="5442585" cy="13290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2440" y="5011420"/>
            <a:ext cx="3688080" cy="1028700"/>
          </a:xfrm>
          <a:prstGeom prst="rect">
            <a:avLst/>
          </a:prstGeom>
        </p:spPr>
      </p:pic>
      <p:cxnSp>
        <p:nvCxnSpPr>
          <p:cNvPr id="13" name="直接箭头连接符 12"/>
          <p:cNvCxnSpPr/>
          <p:nvPr/>
        </p:nvCxnSpPr>
        <p:spPr>
          <a:xfrm flipV="1">
            <a:off x="9547860" y="2801620"/>
            <a:ext cx="1170305" cy="7493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0393680" y="2357120"/>
            <a:ext cx="629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|x&gt;</a:t>
            </a:r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9547860" y="2821305"/>
            <a:ext cx="1018540" cy="5715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10711815" y="2828290"/>
            <a:ext cx="6350" cy="692785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8529320" y="2820670"/>
            <a:ext cx="1018540" cy="5715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0705465" y="3550920"/>
            <a:ext cx="6350" cy="692785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l="88185" b="69178"/>
          <a:stretch>
            <a:fillRect/>
          </a:stretch>
        </p:blipFill>
        <p:spPr>
          <a:xfrm>
            <a:off x="10984865" y="3378835"/>
            <a:ext cx="432435" cy="27559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rcRect l="65235" r="18391" b="49487"/>
          <a:stretch>
            <a:fillRect/>
          </a:stretch>
        </p:blipFill>
        <p:spPr>
          <a:xfrm>
            <a:off x="9603105" y="1900555"/>
            <a:ext cx="283210" cy="304800"/>
          </a:xfrm>
          <a:prstGeom prst="rect">
            <a:avLst/>
          </a:prstGeom>
        </p:spPr>
      </p:pic>
      <p:cxnSp>
        <p:nvCxnSpPr>
          <p:cNvPr id="21" name="直接箭头连接符 20"/>
          <p:cNvCxnSpPr/>
          <p:nvPr/>
        </p:nvCxnSpPr>
        <p:spPr>
          <a:xfrm>
            <a:off x="9543415" y="3562985"/>
            <a:ext cx="1162685" cy="69532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10492105" y="4373245"/>
            <a:ext cx="81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|x&gt;</a:t>
            </a:r>
            <a:endParaRPr lang="zh-CN" altLang="en-US"/>
          </a:p>
        </p:txBody>
      </p:sp>
      <p:cxnSp>
        <p:nvCxnSpPr>
          <p:cNvPr id="23" name="直接箭头连接符 22"/>
          <p:cNvCxnSpPr/>
          <p:nvPr/>
        </p:nvCxnSpPr>
        <p:spPr>
          <a:xfrm flipH="1" flipV="1">
            <a:off x="8542020" y="2831465"/>
            <a:ext cx="995045" cy="71374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8168640" y="2353945"/>
            <a:ext cx="81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|x&gt;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8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694" name="文本框 6"/>
          <p:cNvSpPr txBox="1"/>
          <p:nvPr/>
        </p:nvSpPr>
        <p:spPr>
          <a:xfrm>
            <a:off x="-102235" y="0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695" name="文本框 3"/>
          <p:cNvSpPr txBox="1"/>
          <p:nvPr/>
        </p:nvSpPr>
        <p:spPr>
          <a:xfrm>
            <a:off x="294005" y="114278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44" name="直接连接符 5"/>
          <p:cNvCxnSpPr/>
          <p:nvPr/>
        </p:nvCxnSpPr>
        <p:spPr>
          <a:xfrm>
            <a:off x="347344" y="636228"/>
            <a:ext cx="116306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96" name="矩形: 圆角 12"/>
          <p:cNvSpPr/>
          <p:nvPr/>
        </p:nvSpPr>
        <p:spPr>
          <a:xfrm>
            <a:off x="356235" y="732790"/>
            <a:ext cx="11621770" cy="5954395"/>
          </a:xfrm>
          <a:prstGeom prst="roundRect">
            <a:avLst>
              <a:gd name="adj" fmla="val 35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245" y="1003935"/>
            <a:ext cx="6165215" cy="865505"/>
          </a:xfrm>
          <a:prstGeom prst="rect">
            <a:avLst/>
          </a:prstGeom>
        </p:spPr>
      </p:pic>
      <p:sp>
        <p:nvSpPr>
          <p:cNvPr id="5" name="文本框 10"/>
          <p:cNvSpPr txBox="1"/>
          <p:nvPr/>
        </p:nvSpPr>
        <p:spPr>
          <a:xfrm>
            <a:off x="450850" y="1176020"/>
            <a:ext cx="43789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所以对于我们的运算符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27" name="直接箭头连接符 26"/>
          <p:cNvCxnSpPr/>
          <p:nvPr>
            <p:custDataLst>
              <p:tags r:id="rId3"/>
            </p:custDataLst>
          </p:nvPr>
        </p:nvCxnSpPr>
        <p:spPr>
          <a:xfrm flipV="1">
            <a:off x="1102360" y="4394200"/>
            <a:ext cx="2963545" cy="885190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坐标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3140" y="1825625"/>
            <a:ext cx="3536315" cy="3536315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4065905" y="3874135"/>
            <a:ext cx="960120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|S&gt;</a:t>
            </a:r>
            <a:endParaRPr lang="en-US" altLang="zh-CN" sz="2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8"/>
            </p:custDataLst>
          </p:nvPr>
        </p:nvCxnSpPr>
        <p:spPr>
          <a:xfrm>
            <a:off x="3502025" y="4540250"/>
            <a:ext cx="503555" cy="1504315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9"/>
            </p:custDataLst>
          </p:nvPr>
        </p:nvCxnSpPr>
        <p:spPr>
          <a:xfrm flipH="1">
            <a:off x="3166745" y="4383405"/>
            <a:ext cx="279400" cy="90805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>
            <p:custDataLst>
              <p:tags r:id="rId10"/>
            </p:custDataLst>
          </p:nvPr>
        </p:nvCxnSpPr>
        <p:spPr>
          <a:xfrm>
            <a:off x="1102360" y="5279390"/>
            <a:ext cx="2903220" cy="807085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>
            <p:custDataLst>
              <p:tags r:id="rId11"/>
            </p:custDataLst>
          </p:nvPr>
        </p:nvSpPr>
        <p:spPr>
          <a:xfrm>
            <a:off x="4118610" y="5956935"/>
            <a:ext cx="1734820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</a:t>
            </a:r>
            <a:r>
              <a:rPr lang="en-US" altLang="zh-CN" sz="24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|S&gt;</a:t>
            </a:r>
            <a:endParaRPr lang="en-US" altLang="zh-CN" sz="2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7" name="直接箭头连接符 36"/>
          <p:cNvCxnSpPr/>
          <p:nvPr>
            <p:custDataLst>
              <p:tags r:id="rId12"/>
            </p:custDataLst>
          </p:nvPr>
        </p:nvCxnSpPr>
        <p:spPr>
          <a:xfrm flipV="1">
            <a:off x="1102360" y="3017520"/>
            <a:ext cx="1890395" cy="22415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>
            <p:custDataLst>
              <p:tags r:id="rId13"/>
            </p:custDataLst>
          </p:nvPr>
        </p:nvSpPr>
        <p:spPr>
          <a:xfrm>
            <a:off x="1823085" y="2541270"/>
            <a:ext cx="1623060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</a:t>
            </a:r>
            <a:r>
              <a:rPr lang="en-US" altLang="zh-CN" sz="24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|S&gt;</a:t>
            </a:r>
            <a:endParaRPr lang="en-US" altLang="zh-CN" sz="2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9" name="直接连接符 38"/>
          <p:cNvCxnSpPr/>
          <p:nvPr>
            <p:custDataLst>
              <p:tags r:id="rId14"/>
            </p:custDataLst>
          </p:nvPr>
        </p:nvCxnSpPr>
        <p:spPr>
          <a:xfrm>
            <a:off x="4005580" y="4474210"/>
            <a:ext cx="6350" cy="78486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>
            <p:custDataLst>
              <p:tags r:id="rId15"/>
            </p:custDataLst>
          </p:nvPr>
        </p:nvCxnSpPr>
        <p:spPr>
          <a:xfrm>
            <a:off x="4007485" y="5259070"/>
            <a:ext cx="4445" cy="86487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16"/>
            </p:custDataLst>
          </p:nvPr>
        </p:nvCxnSpPr>
        <p:spPr>
          <a:xfrm>
            <a:off x="2998470" y="3035935"/>
            <a:ext cx="503555" cy="1504315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17"/>
            </p:custDataLst>
          </p:nvPr>
        </p:nvCxnSpPr>
        <p:spPr>
          <a:xfrm flipH="1" flipV="1">
            <a:off x="3218180" y="4444365"/>
            <a:ext cx="59690" cy="161925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18"/>
            </p:custDataLst>
          </p:nvPr>
        </p:nvCxnSpPr>
        <p:spPr>
          <a:xfrm flipH="1">
            <a:off x="4018915" y="5049520"/>
            <a:ext cx="205740" cy="762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19"/>
            </p:custDataLst>
          </p:nvPr>
        </p:nvCxnSpPr>
        <p:spPr>
          <a:xfrm flipH="1" flipV="1">
            <a:off x="4278630" y="5061585"/>
            <a:ext cx="6985" cy="16383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弧形 13"/>
          <p:cNvSpPr/>
          <p:nvPr>
            <p:custDataLst>
              <p:tags r:id="rId20"/>
            </p:custDataLst>
          </p:nvPr>
        </p:nvSpPr>
        <p:spPr>
          <a:xfrm rot="360000">
            <a:off x="1311910" y="4655185"/>
            <a:ext cx="599440" cy="540385"/>
          </a:xfrm>
          <a:prstGeom prst="arc">
            <a:avLst>
              <a:gd name="adj1" fmla="val 16200000"/>
              <a:gd name="adj2" fmla="val 566442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坐标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8500" y="1884680"/>
            <a:ext cx="3176905" cy="31769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rcRect r="19271" b="71587"/>
          <a:stretch>
            <a:fillRect/>
          </a:stretch>
        </p:blipFill>
        <p:spPr>
          <a:xfrm>
            <a:off x="1823085" y="4330065"/>
            <a:ext cx="436245" cy="52197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3"/>
          <a:srcRect t="33438"/>
          <a:stretch>
            <a:fillRect/>
          </a:stretch>
        </p:blipFill>
        <p:spPr>
          <a:xfrm>
            <a:off x="2494915" y="4625340"/>
            <a:ext cx="242570" cy="54927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3"/>
          <a:srcRect t="33438"/>
          <a:stretch>
            <a:fillRect/>
          </a:stretch>
        </p:blipFill>
        <p:spPr>
          <a:xfrm>
            <a:off x="2058670" y="5723255"/>
            <a:ext cx="238125" cy="539750"/>
          </a:xfrm>
          <a:prstGeom prst="rect">
            <a:avLst/>
          </a:prstGeom>
        </p:spPr>
      </p:pic>
      <p:sp>
        <p:nvSpPr>
          <p:cNvPr id="18" name="弧形 17"/>
          <p:cNvSpPr/>
          <p:nvPr>
            <p:custDataLst>
              <p:tags r:id="rId26"/>
            </p:custDataLst>
          </p:nvPr>
        </p:nvSpPr>
        <p:spPr>
          <a:xfrm rot="3360000">
            <a:off x="1748155" y="4828540"/>
            <a:ext cx="599440" cy="540385"/>
          </a:xfrm>
          <a:prstGeom prst="arc">
            <a:avLst>
              <a:gd name="adj1" fmla="val 16200000"/>
              <a:gd name="adj2" fmla="val 19764625"/>
            </a:avLst>
          </a:prstGeom>
          <a:ln w="3810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弧形 18"/>
          <p:cNvSpPr/>
          <p:nvPr>
            <p:custDataLst>
              <p:tags r:id="rId27"/>
            </p:custDataLst>
          </p:nvPr>
        </p:nvSpPr>
        <p:spPr>
          <a:xfrm rot="4800000">
            <a:off x="1748790" y="5062855"/>
            <a:ext cx="599440" cy="540385"/>
          </a:xfrm>
          <a:prstGeom prst="arc">
            <a:avLst>
              <a:gd name="adj1" fmla="val 16200000"/>
              <a:gd name="adj2" fmla="val 19764625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>
            <p:custDataLst>
              <p:tags r:id="rId28"/>
            </p:custDataLst>
          </p:nvPr>
        </p:nvCxnSpPr>
        <p:spPr>
          <a:xfrm flipV="1">
            <a:off x="6658610" y="3568700"/>
            <a:ext cx="1378585" cy="2224405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29"/>
            </p:custDataLst>
          </p:nvPr>
        </p:nvSpPr>
        <p:spPr>
          <a:xfrm>
            <a:off x="7793990" y="3035935"/>
            <a:ext cx="960120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|S&gt;</a:t>
            </a:r>
            <a:endParaRPr lang="en-US" altLang="zh-CN" sz="2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30"/>
            </p:custDataLst>
          </p:nvPr>
        </p:nvCxnSpPr>
        <p:spPr>
          <a:xfrm flipH="1">
            <a:off x="7827010" y="4742815"/>
            <a:ext cx="162560" cy="127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>
            <p:custDataLst>
              <p:tags r:id="rId31"/>
            </p:custDataLst>
          </p:nvPr>
        </p:nvCxnSpPr>
        <p:spPr>
          <a:xfrm>
            <a:off x="7161530" y="4901565"/>
            <a:ext cx="827405" cy="1388745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>
            <p:custDataLst>
              <p:tags r:id="rId32"/>
            </p:custDataLst>
          </p:nvPr>
        </p:nvSpPr>
        <p:spPr>
          <a:xfrm>
            <a:off x="8072755" y="6044565"/>
            <a:ext cx="1734820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</a:t>
            </a:r>
            <a:r>
              <a:rPr lang="en-US" altLang="zh-CN" sz="24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|S&gt;</a:t>
            </a:r>
            <a:endParaRPr lang="en-US" altLang="zh-CN" sz="2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2" name="直接箭头连接符 31"/>
          <p:cNvCxnSpPr/>
          <p:nvPr>
            <p:custDataLst>
              <p:tags r:id="rId33"/>
            </p:custDataLst>
          </p:nvPr>
        </p:nvCxnSpPr>
        <p:spPr>
          <a:xfrm flipH="1" flipV="1">
            <a:off x="5807075" y="4599940"/>
            <a:ext cx="1354455" cy="32766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34"/>
            </p:custDataLst>
          </p:nvPr>
        </p:nvSpPr>
        <p:spPr>
          <a:xfrm>
            <a:off x="5284470" y="4018280"/>
            <a:ext cx="1623060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</a:t>
            </a:r>
            <a:r>
              <a:rPr lang="en-US" altLang="zh-CN" sz="24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|S&gt;</a:t>
            </a:r>
            <a:endParaRPr lang="en-US" altLang="zh-CN" sz="2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42" name="直接连接符 41"/>
          <p:cNvCxnSpPr/>
          <p:nvPr>
            <p:custDataLst>
              <p:tags r:id="rId35"/>
            </p:custDataLst>
          </p:nvPr>
        </p:nvCxnSpPr>
        <p:spPr>
          <a:xfrm flipH="1">
            <a:off x="8025130" y="3599180"/>
            <a:ext cx="12065" cy="134239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>
            <p:custDataLst>
              <p:tags r:id="rId36"/>
            </p:custDataLst>
          </p:nvPr>
        </p:nvCxnSpPr>
        <p:spPr>
          <a:xfrm flipH="1" flipV="1">
            <a:off x="7827010" y="4768850"/>
            <a:ext cx="3175" cy="22225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>
            <p:custDataLst>
              <p:tags r:id="rId37"/>
            </p:custDataLst>
          </p:nvPr>
        </p:nvCxnSpPr>
        <p:spPr>
          <a:xfrm flipH="1" flipV="1">
            <a:off x="6994525" y="5279390"/>
            <a:ext cx="149225" cy="113665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>
            <p:custDataLst>
              <p:tags r:id="rId38"/>
            </p:custDataLst>
          </p:nvPr>
        </p:nvCxnSpPr>
        <p:spPr>
          <a:xfrm flipV="1">
            <a:off x="7048500" y="5395595"/>
            <a:ext cx="95250" cy="132715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弧形 45"/>
          <p:cNvSpPr/>
          <p:nvPr>
            <p:custDataLst>
              <p:tags r:id="rId39"/>
            </p:custDataLst>
          </p:nvPr>
        </p:nvSpPr>
        <p:spPr>
          <a:xfrm rot="18360000">
            <a:off x="6770370" y="4690110"/>
            <a:ext cx="599440" cy="540385"/>
          </a:xfrm>
          <a:prstGeom prst="arc">
            <a:avLst>
              <a:gd name="adj1" fmla="val 16200000"/>
              <a:gd name="adj2" fmla="val 566442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23"/>
          <a:srcRect r="19271" b="71587"/>
          <a:stretch>
            <a:fillRect/>
          </a:stretch>
        </p:blipFill>
        <p:spPr>
          <a:xfrm>
            <a:off x="6704965" y="4259580"/>
            <a:ext cx="289560" cy="34671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23"/>
          <a:srcRect t="33438"/>
          <a:stretch>
            <a:fillRect/>
          </a:stretch>
        </p:blipFill>
        <p:spPr>
          <a:xfrm>
            <a:off x="7551420" y="4991100"/>
            <a:ext cx="242570" cy="549275"/>
          </a:xfrm>
          <a:prstGeom prst="rect">
            <a:avLst/>
          </a:prstGeom>
        </p:spPr>
      </p:pic>
      <p:sp>
        <p:nvSpPr>
          <p:cNvPr id="50" name="弧形 49"/>
          <p:cNvSpPr/>
          <p:nvPr>
            <p:custDataLst>
              <p:tags r:id="rId42"/>
            </p:custDataLst>
          </p:nvPr>
        </p:nvSpPr>
        <p:spPr>
          <a:xfrm rot="3360000">
            <a:off x="6874510" y="4556125"/>
            <a:ext cx="599440" cy="540385"/>
          </a:xfrm>
          <a:prstGeom prst="arc">
            <a:avLst>
              <a:gd name="adj1" fmla="val 16200000"/>
              <a:gd name="adj2" fmla="val 19764625"/>
            </a:avLst>
          </a:prstGeom>
          <a:ln w="3810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弧形 50"/>
          <p:cNvSpPr/>
          <p:nvPr>
            <p:custDataLst>
              <p:tags r:id="rId43"/>
            </p:custDataLst>
          </p:nvPr>
        </p:nvSpPr>
        <p:spPr>
          <a:xfrm rot="4800000">
            <a:off x="6874510" y="4748530"/>
            <a:ext cx="599440" cy="540385"/>
          </a:xfrm>
          <a:prstGeom prst="arc">
            <a:avLst>
              <a:gd name="adj1" fmla="val 16200000"/>
              <a:gd name="adj2" fmla="val 19764625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2" name="直接连接符 51"/>
          <p:cNvCxnSpPr/>
          <p:nvPr>
            <p:custDataLst>
              <p:tags r:id="rId44"/>
            </p:custDataLst>
          </p:nvPr>
        </p:nvCxnSpPr>
        <p:spPr>
          <a:xfrm flipH="1">
            <a:off x="8013065" y="4941570"/>
            <a:ext cx="12065" cy="134239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>
            <p:custDataLst>
              <p:tags r:id="rId45"/>
            </p:custDataLst>
          </p:nvPr>
        </p:nvCxnSpPr>
        <p:spPr>
          <a:xfrm>
            <a:off x="6885940" y="5433060"/>
            <a:ext cx="1061085" cy="79756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5" name="图片 54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2"/>
          <a:srcRect l="67710" t="-4035" r="20270" b="50037"/>
          <a:stretch>
            <a:fillRect/>
          </a:stretch>
        </p:blipFill>
        <p:spPr>
          <a:xfrm>
            <a:off x="4500245" y="4991100"/>
            <a:ext cx="741045" cy="467360"/>
          </a:xfrm>
          <a:prstGeom prst="rect">
            <a:avLst/>
          </a:prstGeom>
        </p:spPr>
      </p:pic>
      <p:cxnSp>
        <p:nvCxnSpPr>
          <p:cNvPr id="56" name="直接连接符 55"/>
          <p:cNvCxnSpPr/>
          <p:nvPr>
            <p:custDataLst>
              <p:tags r:id="rId47"/>
            </p:custDataLst>
          </p:nvPr>
        </p:nvCxnSpPr>
        <p:spPr>
          <a:xfrm>
            <a:off x="5824855" y="4625340"/>
            <a:ext cx="1061085" cy="79756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7" name="图片 56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2"/>
          <a:srcRect l="67710" t="-4035" r="20270" b="50037"/>
          <a:stretch>
            <a:fillRect/>
          </a:stretch>
        </p:blipFill>
        <p:spPr>
          <a:xfrm>
            <a:off x="10285730" y="4941570"/>
            <a:ext cx="741045" cy="46736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/>
          <a:srcRect l="64331" t="-4584" r="16691" b="-6077"/>
          <a:stretch>
            <a:fillRect/>
          </a:stretch>
        </p:blipFill>
        <p:spPr>
          <a:xfrm>
            <a:off x="7336790" y="1825625"/>
            <a:ext cx="493395" cy="497840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0"/>
          <a:srcRect l="64331" t="-4584" r="16691" b="-6077"/>
          <a:stretch>
            <a:fillRect/>
          </a:stretch>
        </p:blipFill>
        <p:spPr>
          <a:xfrm>
            <a:off x="1236980" y="1748790"/>
            <a:ext cx="493395" cy="497840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23"/>
          <a:srcRect t="33438"/>
          <a:stretch>
            <a:fillRect/>
          </a:stretch>
        </p:blipFill>
        <p:spPr>
          <a:xfrm>
            <a:off x="7551420" y="4378325"/>
            <a:ext cx="242570" cy="549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8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694" name="文本框 6"/>
          <p:cNvSpPr txBox="1"/>
          <p:nvPr/>
        </p:nvSpPr>
        <p:spPr>
          <a:xfrm>
            <a:off x="-102235" y="0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695" name="文本框 3"/>
          <p:cNvSpPr txBox="1"/>
          <p:nvPr/>
        </p:nvSpPr>
        <p:spPr>
          <a:xfrm>
            <a:off x="294005" y="114278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44" name="直接连接符 5"/>
          <p:cNvCxnSpPr/>
          <p:nvPr/>
        </p:nvCxnSpPr>
        <p:spPr>
          <a:xfrm>
            <a:off x="347344" y="636228"/>
            <a:ext cx="116306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96" name="矩形: 圆角 12"/>
          <p:cNvSpPr/>
          <p:nvPr/>
        </p:nvSpPr>
        <p:spPr>
          <a:xfrm>
            <a:off x="356235" y="732790"/>
            <a:ext cx="11621770" cy="5954395"/>
          </a:xfrm>
          <a:prstGeom prst="roundRect">
            <a:avLst>
              <a:gd name="adj" fmla="val 35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t="2269"/>
          <a:stretch>
            <a:fillRect/>
          </a:stretch>
        </p:blipFill>
        <p:spPr>
          <a:xfrm>
            <a:off x="762635" y="1696085"/>
            <a:ext cx="3616960" cy="39109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205" y="1171575"/>
            <a:ext cx="7152640" cy="1625600"/>
          </a:xfrm>
          <a:prstGeom prst="rect">
            <a:avLst/>
          </a:prstGeom>
        </p:spPr>
      </p:pic>
      <p:sp>
        <p:nvSpPr>
          <p:cNvPr id="23" name="文本框 10"/>
          <p:cNvSpPr txBox="1"/>
          <p:nvPr/>
        </p:nvSpPr>
        <p:spPr>
          <a:xfrm>
            <a:off x="4379595" y="2842895"/>
            <a:ext cx="75984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VU</a:t>
            </a:r>
            <a:r>
              <a:rPr lang="en-US" altLang="zh-CN" sz="28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次后逼近于目标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态：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610" y="2691765"/>
            <a:ext cx="1986280" cy="82423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595" y="3709035"/>
            <a:ext cx="7080250" cy="16878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0"/>
            <a:ext cx="12294870" cy="6833870"/>
          </a:xfrm>
          <a:prstGeom prst="rect">
            <a:avLst/>
          </a:prstGeom>
        </p:spPr>
      </p:pic>
      <p:sp>
        <p:nvSpPr>
          <p:cNvPr id="1048586" name="文本框 6"/>
          <p:cNvSpPr txBox="1"/>
          <p:nvPr/>
        </p:nvSpPr>
        <p:spPr>
          <a:xfrm>
            <a:off x="-153035" y="635"/>
            <a:ext cx="12345670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5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22" name="矩形: 圆角 21"/>
          <p:cNvSpPr/>
          <p:nvPr/>
        </p:nvSpPr>
        <p:spPr>
          <a:xfrm>
            <a:off x="-152400" y="-19050"/>
            <a:ext cx="12345035" cy="66294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191635" y="51435"/>
            <a:ext cx="345122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</a:t>
            </a:r>
            <a:r>
              <a:rPr lang="en-US" altLang="zh-CN" sz="28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作用了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次之后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2397376" y="6346734"/>
            <a:ext cx="7039610" cy="2349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6047101" y="3525134"/>
            <a:ext cx="2540" cy="86931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559560" y="4612005"/>
            <a:ext cx="9324975" cy="95313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的夹角小于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时，测得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的概率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为：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rcRect l="65992" r="27972" b="55855"/>
          <a:stretch>
            <a:fillRect/>
          </a:stretch>
        </p:blipFill>
        <p:spPr>
          <a:xfrm>
            <a:off x="3166745" y="4561840"/>
            <a:ext cx="628650" cy="5715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2269"/>
          <a:stretch>
            <a:fillRect/>
          </a:stretch>
        </p:blipFill>
        <p:spPr>
          <a:xfrm>
            <a:off x="1243330" y="793750"/>
            <a:ext cx="2771775" cy="2997200"/>
          </a:xfrm>
          <a:prstGeom prst="rect">
            <a:avLst/>
          </a:prstGeom>
        </p:spPr>
      </p:pic>
      <p:cxnSp>
        <p:nvCxnSpPr>
          <p:cNvPr id="2" name="直接箭头连接符 1"/>
          <p:cNvCxnSpPr/>
          <p:nvPr/>
        </p:nvCxnSpPr>
        <p:spPr>
          <a:xfrm>
            <a:off x="4458966" y="2403089"/>
            <a:ext cx="3338830" cy="0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5287010" y="1880870"/>
            <a:ext cx="168211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220" y="1034415"/>
            <a:ext cx="3281680" cy="28340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4855" y="4643120"/>
            <a:ext cx="714375" cy="4908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33438"/>
          <a:stretch>
            <a:fillRect/>
          </a:stretch>
        </p:blipFill>
        <p:spPr>
          <a:xfrm>
            <a:off x="5572125" y="4561840"/>
            <a:ext cx="295275" cy="6140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l="65992" r="27972" b="55855"/>
          <a:stretch>
            <a:fillRect/>
          </a:stretch>
        </p:blipFill>
        <p:spPr>
          <a:xfrm>
            <a:off x="7369175" y="4561840"/>
            <a:ext cx="628650" cy="5715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5625" y="5281295"/>
            <a:ext cx="5871210" cy="9201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679" name="文本框 6"/>
          <p:cNvSpPr txBox="1"/>
          <p:nvPr/>
        </p:nvSpPr>
        <p:spPr>
          <a:xfrm>
            <a:off x="-102235" y="0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680" name="文本框 3"/>
          <p:cNvSpPr txBox="1"/>
          <p:nvPr/>
        </p:nvSpPr>
        <p:spPr>
          <a:xfrm>
            <a:off x="294005" y="114278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43" name="直接连接符 5"/>
          <p:cNvCxnSpPr/>
          <p:nvPr/>
        </p:nvCxnSpPr>
        <p:spPr>
          <a:xfrm>
            <a:off x="347344" y="636228"/>
            <a:ext cx="116306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81" name="矩形: 圆角 12"/>
          <p:cNvSpPr/>
          <p:nvPr/>
        </p:nvSpPr>
        <p:spPr>
          <a:xfrm>
            <a:off x="347345" y="732790"/>
            <a:ext cx="11621770" cy="5954395"/>
          </a:xfrm>
          <a:prstGeom prst="roundRect">
            <a:avLst>
              <a:gd name="adj" fmla="val 35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82" name="文本框 32"/>
          <p:cNvSpPr txBox="1"/>
          <p:nvPr/>
        </p:nvSpPr>
        <p:spPr>
          <a:xfrm>
            <a:off x="7934960" y="4117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048683" name="矩形 21"/>
          <p:cNvSpPr/>
          <p:nvPr/>
        </p:nvSpPr>
        <p:spPr>
          <a:xfrm>
            <a:off x="871855" y="1138555"/>
            <a:ext cx="1162685" cy="23977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800"/>
              <a:t>U</a:t>
            </a:r>
            <a:r>
              <a:rPr lang="en-US" altLang="zh-CN" sz="4800" baseline="-25000"/>
              <a:t>f</a:t>
            </a:r>
            <a:endParaRPr lang="en-US" altLang="zh-CN" sz="4800" baseline="-25000"/>
          </a:p>
        </p:txBody>
      </p:sp>
      <p:sp>
        <p:nvSpPr>
          <p:cNvPr id="1048684" name="矩形 27"/>
          <p:cNvSpPr/>
          <p:nvPr/>
        </p:nvSpPr>
        <p:spPr>
          <a:xfrm>
            <a:off x="871855" y="3973830"/>
            <a:ext cx="1162685" cy="239776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800"/>
              <a:t>U</a:t>
            </a:r>
            <a:r>
              <a:rPr lang="en-US" altLang="zh-CN" sz="4800" baseline="-25000"/>
              <a:t>f0</a:t>
            </a:r>
            <a:endParaRPr lang="en-US" altLang="zh-CN" sz="4800" baseline="-25000"/>
          </a:p>
        </p:txBody>
      </p:sp>
      <p:sp>
        <p:nvSpPr>
          <p:cNvPr id="1048685" name="文本框 7"/>
          <p:cNvSpPr txBox="1"/>
          <p:nvPr>
            <p:custDataLst>
              <p:tags r:id="rId2"/>
            </p:custDataLst>
          </p:nvPr>
        </p:nvSpPr>
        <p:spPr>
          <a:xfrm>
            <a:off x="2542540" y="1078865"/>
            <a:ext cx="51555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对于算符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</a:t>
            </a:r>
            <a:r>
              <a:rPr lang="en-US" altLang="zh-CN" sz="28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有：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097173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47997"/>
          <a:stretch>
            <a:fillRect/>
          </a:stretch>
        </p:blipFill>
        <p:spPr>
          <a:xfrm>
            <a:off x="2684780" y="1785620"/>
            <a:ext cx="4881245" cy="1546225"/>
          </a:xfrm>
          <a:prstGeom prst="rect">
            <a:avLst/>
          </a:prstGeom>
        </p:spPr>
      </p:pic>
      <p:pic>
        <p:nvPicPr>
          <p:cNvPr id="2097174" name="图片 10"/>
          <p:cNvPicPr>
            <a:picLocks noChangeAspect="1"/>
          </p:cNvPicPr>
          <p:nvPr/>
        </p:nvPicPr>
        <p:blipFill>
          <a:blip r:embed="rId4"/>
          <a:srcRect l="52039"/>
          <a:stretch>
            <a:fillRect/>
          </a:stretch>
        </p:blipFill>
        <p:spPr>
          <a:xfrm>
            <a:off x="7155815" y="2468880"/>
            <a:ext cx="3944620" cy="1355090"/>
          </a:xfrm>
          <a:prstGeom prst="rect">
            <a:avLst/>
          </a:prstGeom>
        </p:spPr>
      </p:pic>
      <p:sp>
        <p:nvSpPr>
          <p:cNvPr id="1048686" name="右箭头 11"/>
          <p:cNvSpPr/>
          <p:nvPr>
            <p:custDataLst>
              <p:tags r:id="rId5"/>
            </p:custDataLst>
          </p:nvPr>
        </p:nvSpPr>
        <p:spPr>
          <a:xfrm>
            <a:off x="6125210" y="3077845"/>
            <a:ext cx="874395" cy="183515"/>
          </a:xfrm>
          <a:prstGeom prst="rightArrow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87" name="文本框 13"/>
          <p:cNvSpPr txBox="1"/>
          <p:nvPr>
            <p:custDataLst>
              <p:tags r:id="rId6"/>
            </p:custDataLst>
          </p:nvPr>
        </p:nvSpPr>
        <p:spPr>
          <a:xfrm>
            <a:off x="2527300" y="3819525"/>
            <a:ext cx="51555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对于算符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</a:t>
            </a:r>
            <a:r>
              <a:rPr lang="en-US" altLang="zh-CN" sz="28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f0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有：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48688" name="矩形 34"/>
          <p:cNvSpPr/>
          <p:nvPr>
            <p:custDataLst>
              <p:tags r:id="rId7"/>
            </p:custDataLst>
          </p:nvPr>
        </p:nvSpPr>
        <p:spPr>
          <a:xfrm>
            <a:off x="3787775" y="2900680"/>
            <a:ext cx="1715135" cy="490855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89" name="矩形 24"/>
          <p:cNvSpPr/>
          <p:nvPr>
            <p:custDataLst>
              <p:tags r:id="rId8"/>
            </p:custDataLst>
          </p:nvPr>
        </p:nvSpPr>
        <p:spPr>
          <a:xfrm>
            <a:off x="2669540" y="1931035"/>
            <a:ext cx="379095" cy="490855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97175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132070" y="3865880"/>
            <a:ext cx="3491865" cy="521970"/>
          </a:xfrm>
          <a:prstGeom prst="rect">
            <a:avLst/>
          </a:prstGeom>
        </p:spPr>
      </p:pic>
      <p:sp>
        <p:nvSpPr>
          <p:cNvPr id="1048690" name="矩形 28"/>
          <p:cNvSpPr/>
          <p:nvPr/>
        </p:nvSpPr>
        <p:spPr>
          <a:xfrm>
            <a:off x="2542540" y="4829175"/>
            <a:ext cx="547370" cy="587375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91" name="矩形 29"/>
          <p:cNvSpPr/>
          <p:nvPr/>
        </p:nvSpPr>
        <p:spPr>
          <a:xfrm>
            <a:off x="3871595" y="5864225"/>
            <a:ext cx="2386965" cy="558165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97177" name="图片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2540" y="4709160"/>
            <a:ext cx="5561330" cy="16814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80965" y="1138555"/>
            <a:ext cx="3442970" cy="5956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8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694" name="文本框 6"/>
          <p:cNvSpPr txBox="1"/>
          <p:nvPr/>
        </p:nvSpPr>
        <p:spPr>
          <a:xfrm>
            <a:off x="-102235" y="0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695" name="文本框 3"/>
          <p:cNvSpPr txBox="1"/>
          <p:nvPr/>
        </p:nvSpPr>
        <p:spPr>
          <a:xfrm>
            <a:off x="294005" y="114278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44" name="直接连接符 5"/>
          <p:cNvCxnSpPr/>
          <p:nvPr/>
        </p:nvCxnSpPr>
        <p:spPr>
          <a:xfrm>
            <a:off x="347344" y="636228"/>
            <a:ext cx="116306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96" name="矩形: 圆角 12"/>
          <p:cNvSpPr/>
          <p:nvPr/>
        </p:nvSpPr>
        <p:spPr>
          <a:xfrm>
            <a:off x="347345" y="732790"/>
            <a:ext cx="11621770" cy="5954395"/>
          </a:xfrm>
          <a:prstGeom prst="roundRect">
            <a:avLst>
              <a:gd name="adj" fmla="val 35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97" name="文本框 32"/>
          <p:cNvSpPr txBox="1"/>
          <p:nvPr/>
        </p:nvSpPr>
        <p:spPr>
          <a:xfrm>
            <a:off x="7934960" y="37801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048698" name="文本框 51"/>
          <p:cNvSpPr txBox="1"/>
          <p:nvPr/>
        </p:nvSpPr>
        <p:spPr>
          <a:xfrm>
            <a:off x="822960" y="947420"/>
            <a:ext cx="7331075" cy="657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         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为运算符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145745" name="直接连接符 8"/>
          <p:cNvCxnSpPr/>
          <p:nvPr/>
        </p:nvCxnSpPr>
        <p:spPr>
          <a:xfrm flipV="1">
            <a:off x="1540510" y="4275455"/>
            <a:ext cx="2158365" cy="12065"/>
          </a:xfrm>
          <a:prstGeom prst="line">
            <a:avLst/>
          </a:prstGeom>
          <a:ln w="63500">
            <a:solidFill>
              <a:srgbClr val="171D2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5746" name="直接连接符 7"/>
          <p:cNvCxnSpPr/>
          <p:nvPr/>
        </p:nvCxnSpPr>
        <p:spPr>
          <a:xfrm flipV="1">
            <a:off x="1490345" y="2609215"/>
            <a:ext cx="2158365" cy="12065"/>
          </a:xfrm>
          <a:prstGeom prst="line">
            <a:avLst/>
          </a:prstGeom>
          <a:ln w="63500">
            <a:solidFill>
              <a:srgbClr val="171D2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8699" name="矩形 25"/>
          <p:cNvSpPr/>
          <p:nvPr/>
        </p:nvSpPr>
        <p:spPr>
          <a:xfrm>
            <a:off x="923290" y="2286000"/>
            <a:ext cx="682625" cy="6343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lt1"/>
                </a:solidFill>
              </a:rPr>
              <a:t>H</a:t>
            </a:r>
            <a:endParaRPr lang="en-US" altLang="zh-CN" sz="3200" b="1">
              <a:solidFill>
                <a:schemeClr val="lt1"/>
              </a:solidFill>
            </a:endParaRPr>
          </a:p>
        </p:txBody>
      </p:sp>
      <p:sp>
        <p:nvSpPr>
          <p:cNvPr id="1048700" name="矩形 26"/>
          <p:cNvSpPr/>
          <p:nvPr/>
        </p:nvSpPr>
        <p:spPr>
          <a:xfrm>
            <a:off x="923290" y="3964305"/>
            <a:ext cx="682625" cy="6343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lt1"/>
                </a:solidFill>
              </a:rPr>
              <a:t>H</a:t>
            </a:r>
            <a:endParaRPr lang="en-US" altLang="zh-CN" sz="3200" b="1">
              <a:solidFill>
                <a:schemeClr val="lt1"/>
              </a:solidFill>
            </a:endParaRPr>
          </a:p>
        </p:txBody>
      </p:sp>
      <p:sp>
        <p:nvSpPr>
          <p:cNvPr id="1048701" name="矩形 27"/>
          <p:cNvSpPr/>
          <p:nvPr/>
        </p:nvSpPr>
        <p:spPr>
          <a:xfrm>
            <a:off x="2038350" y="2230120"/>
            <a:ext cx="1162685" cy="239776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800"/>
              <a:t>U</a:t>
            </a:r>
            <a:r>
              <a:rPr lang="en-US" altLang="zh-CN" sz="4800" baseline="-25000"/>
              <a:t>f0</a:t>
            </a:r>
            <a:endParaRPr lang="en-US" altLang="zh-CN" sz="4800" baseline="-25000"/>
          </a:p>
        </p:txBody>
      </p:sp>
      <p:sp>
        <p:nvSpPr>
          <p:cNvPr id="1048702" name="矩形 28"/>
          <p:cNvSpPr/>
          <p:nvPr/>
        </p:nvSpPr>
        <p:spPr>
          <a:xfrm>
            <a:off x="3648710" y="2286000"/>
            <a:ext cx="682625" cy="6343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lt1"/>
                </a:solidFill>
              </a:rPr>
              <a:t>H</a:t>
            </a:r>
            <a:endParaRPr lang="en-US" altLang="zh-CN" sz="3200" b="1">
              <a:solidFill>
                <a:schemeClr val="lt1"/>
              </a:solidFill>
            </a:endParaRPr>
          </a:p>
        </p:txBody>
      </p:sp>
      <p:sp>
        <p:nvSpPr>
          <p:cNvPr id="1048703" name="矩形 29"/>
          <p:cNvSpPr/>
          <p:nvPr/>
        </p:nvSpPr>
        <p:spPr>
          <a:xfrm>
            <a:off x="3648710" y="3964305"/>
            <a:ext cx="682625" cy="6343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lt1"/>
                </a:solidFill>
              </a:rPr>
              <a:t>H</a:t>
            </a:r>
            <a:endParaRPr lang="en-US" altLang="zh-CN" sz="3200" b="1">
              <a:solidFill>
                <a:schemeClr val="lt1"/>
              </a:solidFill>
            </a:endParaRPr>
          </a:p>
        </p:txBody>
      </p:sp>
      <p:sp>
        <p:nvSpPr>
          <p:cNvPr id="1048704" name="矩形 33"/>
          <p:cNvSpPr/>
          <p:nvPr/>
        </p:nvSpPr>
        <p:spPr>
          <a:xfrm>
            <a:off x="2199005" y="1450975"/>
            <a:ext cx="509905" cy="73723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705" name="矩形 34"/>
          <p:cNvSpPr/>
          <p:nvPr/>
        </p:nvSpPr>
        <p:spPr>
          <a:xfrm>
            <a:off x="769620" y="2162810"/>
            <a:ext cx="3687445" cy="262318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06" name="矩形 9"/>
          <p:cNvSpPr/>
          <p:nvPr/>
        </p:nvSpPr>
        <p:spPr>
          <a:xfrm>
            <a:off x="859790" y="2924810"/>
            <a:ext cx="917575" cy="73533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707" name="矩形 10"/>
          <p:cNvSpPr/>
          <p:nvPr/>
        </p:nvSpPr>
        <p:spPr>
          <a:xfrm>
            <a:off x="3539490" y="2924810"/>
            <a:ext cx="917575" cy="73533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97179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850" y="953135"/>
            <a:ext cx="922020" cy="497840"/>
          </a:xfrm>
          <a:prstGeom prst="rect">
            <a:avLst/>
          </a:prstGeom>
        </p:spPr>
      </p:pic>
      <p:pic>
        <p:nvPicPr>
          <p:cNvPr id="2097180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910" y="937895"/>
            <a:ext cx="1024890" cy="512445"/>
          </a:xfrm>
          <a:prstGeom prst="rect">
            <a:avLst/>
          </a:prstGeom>
        </p:spPr>
      </p:pic>
      <p:pic>
        <p:nvPicPr>
          <p:cNvPr id="2097181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40" y="937895"/>
            <a:ext cx="825500" cy="666115"/>
          </a:xfrm>
          <a:prstGeom prst="rect">
            <a:avLst/>
          </a:prstGeom>
        </p:spPr>
      </p:pic>
      <p:sp>
        <p:nvSpPr>
          <p:cNvPr id="1048708" name="右箭头 16"/>
          <p:cNvSpPr/>
          <p:nvPr/>
        </p:nvSpPr>
        <p:spPr>
          <a:xfrm>
            <a:off x="2496820" y="1229995"/>
            <a:ext cx="718820" cy="106045"/>
          </a:xfrm>
          <a:prstGeom prst="rightArrow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09" name="右箭头 19"/>
          <p:cNvSpPr/>
          <p:nvPr/>
        </p:nvSpPr>
        <p:spPr>
          <a:xfrm>
            <a:off x="4041140" y="1229995"/>
            <a:ext cx="718820" cy="106045"/>
          </a:xfrm>
          <a:prstGeom prst="rightArrow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9718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5541010"/>
            <a:ext cx="2383155" cy="615315"/>
          </a:xfrm>
          <a:prstGeom prst="rect">
            <a:avLst/>
          </a:prstGeom>
        </p:spPr>
      </p:pic>
      <p:sp>
        <p:nvSpPr>
          <p:cNvPr id="1048710" name="文本框 22"/>
          <p:cNvSpPr txBox="1"/>
          <p:nvPr/>
        </p:nvSpPr>
        <p:spPr>
          <a:xfrm>
            <a:off x="1490345" y="5588000"/>
            <a:ext cx="22955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由前文知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|S&gt;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097183" name="图片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6920" y="1610360"/>
            <a:ext cx="7192010" cy="2368550"/>
          </a:xfrm>
          <a:prstGeom prst="rect">
            <a:avLst/>
          </a:prstGeom>
        </p:spPr>
      </p:pic>
      <p:sp>
        <p:nvSpPr>
          <p:cNvPr id="1048711" name="矩形 24"/>
          <p:cNvSpPr/>
          <p:nvPr/>
        </p:nvSpPr>
        <p:spPr>
          <a:xfrm>
            <a:off x="5765800" y="2781935"/>
            <a:ext cx="1734185" cy="633095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12" name="矩形 35"/>
          <p:cNvSpPr/>
          <p:nvPr/>
        </p:nvSpPr>
        <p:spPr>
          <a:xfrm>
            <a:off x="7546340" y="2781935"/>
            <a:ext cx="1864995" cy="633095"/>
          </a:xfrm>
          <a:prstGeom prst="rect">
            <a:avLst/>
          </a:pr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13" name="矩形 36"/>
          <p:cNvSpPr/>
          <p:nvPr/>
        </p:nvSpPr>
        <p:spPr>
          <a:xfrm>
            <a:off x="5765800" y="3481070"/>
            <a:ext cx="471805" cy="567055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14" name="矩形 43"/>
          <p:cNvSpPr/>
          <p:nvPr/>
        </p:nvSpPr>
        <p:spPr>
          <a:xfrm>
            <a:off x="6301105" y="3481070"/>
            <a:ext cx="441960" cy="567055"/>
          </a:xfrm>
          <a:prstGeom prst="rect">
            <a:avLst/>
          </a:pr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15" name="矩形 53"/>
          <p:cNvSpPr/>
          <p:nvPr/>
        </p:nvSpPr>
        <p:spPr>
          <a:xfrm>
            <a:off x="1540510" y="5589270"/>
            <a:ext cx="4424680" cy="567055"/>
          </a:xfrm>
          <a:prstGeom prst="rect">
            <a:avLst/>
          </a:prstGeom>
          <a:noFill/>
          <a:ln w="38100">
            <a:gradFill>
              <a:gsLst>
                <a:gs pos="0">
                  <a:srgbClr val="00B0F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rgbClr val="92D050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97184" name="图片 55"/>
          <p:cNvPicPr>
            <a:picLocks noChangeAspect="1"/>
          </p:cNvPicPr>
          <p:nvPr/>
        </p:nvPicPr>
        <p:blipFill>
          <a:blip r:embed="rId6"/>
          <a:srcRect b="9906"/>
          <a:stretch>
            <a:fillRect/>
          </a:stretch>
        </p:blipFill>
        <p:spPr>
          <a:xfrm>
            <a:off x="7934960" y="3978910"/>
            <a:ext cx="3268345" cy="2252980"/>
          </a:xfrm>
          <a:prstGeom prst="rect">
            <a:avLst/>
          </a:prstGeom>
        </p:spPr>
      </p:pic>
      <p:sp>
        <p:nvSpPr>
          <p:cNvPr id="1048716" name="文本框 56"/>
          <p:cNvSpPr txBox="1"/>
          <p:nvPr/>
        </p:nvSpPr>
        <p:spPr>
          <a:xfrm>
            <a:off x="6256655" y="4930140"/>
            <a:ext cx="16783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先取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n=1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48717" name="矩形 58"/>
          <p:cNvSpPr/>
          <p:nvPr/>
        </p:nvSpPr>
        <p:spPr>
          <a:xfrm>
            <a:off x="9951085" y="2781935"/>
            <a:ext cx="1864995" cy="633095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18" name="矩形 59"/>
          <p:cNvSpPr/>
          <p:nvPr/>
        </p:nvSpPr>
        <p:spPr>
          <a:xfrm>
            <a:off x="7934960" y="3856355"/>
            <a:ext cx="3268345" cy="237617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97185" name="图片 62"/>
          <p:cNvPicPr>
            <a:picLocks noChangeAspect="1"/>
          </p:cNvPicPr>
          <p:nvPr/>
        </p:nvPicPr>
        <p:blipFill>
          <a:blip r:embed="rId5"/>
          <a:srcRect t="75228" r="56357"/>
          <a:stretch>
            <a:fillRect/>
          </a:stretch>
        </p:blipFill>
        <p:spPr>
          <a:xfrm>
            <a:off x="7026275" y="863600"/>
            <a:ext cx="3138805" cy="5867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6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721" name="文本框 6"/>
          <p:cNvSpPr txBox="1"/>
          <p:nvPr/>
        </p:nvSpPr>
        <p:spPr>
          <a:xfrm>
            <a:off x="-102235" y="0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722" name="文本框 3"/>
          <p:cNvSpPr txBox="1"/>
          <p:nvPr/>
        </p:nvSpPr>
        <p:spPr>
          <a:xfrm>
            <a:off x="294005" y="114278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代数理解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第一轮迭代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47" name="直接连接符 5"/>
          <p:cNvCxnSpPr/>
          <p:nvPr/>
        </p:nvCxnSpPr>
        <p:spPr>
          <a:xfrm>
            <a:off x="347344" y="636228"/>
            <a:ext cx="116306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矩形: 圆角 12"/>
          <p:cNvSpPr/>
          <p:nvPr/>
        </p:nvSpPr>
        <p:spPr>
          <a:xfrm>
            <a:off x="347345" y="732790"/>
            <a:ext cx="11621770" cy="5954395"/>
          </a:xfrm>
          <a:prstGeom prst="roundRect">
            <a:avLst>
              <a:gd name="adj" fmla="val 35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24" name="文本框 32"/>
          <p:cNvSpPr txBox="1"/>
          <p:nvPr/>
        </p:nvSpPr>
        <p:spPr>
          <a:xfrm>
            <a:off x="7934960" y="4117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3145748" name="直接连接符 30"/>
          <p:cNvCxnSpPr/>
          <p:nvPr/>
        </p:nvCxnSpPr>
        <p:spPr>
          <a:xfrm>
            <a:off x="1029970" y="1318260"/>
            <a:ext cx="2493645" cy="8890"/>
          </a:xfrm>
          <a:prstGeom prst="line">
            <a:avLst/>
          </a:prstGeom>
          <a:ln w="63500">
            <a:solidFill>
              <a:srgbClr val="171D2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5749" name="直接连接符 37"/>
          <p:cNvCxnSpPr/>
          <p:nvPr/>
        </p:nvCxnSpPr>
        <p:spPr>
          <a:xfrm>
            <a:off x="1191895" y="2637155"/>
            <a:ext cx="2338070" cy="8890"/>
          </a:xfrm>
          <a:prstGeom prst="line">
            <a:avLst/>
          </a:prstGeom>
          <a:ln w="63500">
            <a:solidFill>
              <a:srgbClr val="171D2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8725" name="矩形 18"/>
          <p:cNvSpPr/>
          <p:nvPr/>
        </p:nvSpPr>
        <p:spPr>
          <a:xfrm>
            <a:off x="838835" y="1045210"/>
            <a:ext cx="628650" cy="533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lt1"/>
                </a:solidFill>
              </a:rPr>
              <a:t>H</a:t>
            </a:r>
            <a:endParaRPr lang="en-US" altLang="zh-CN" sz="3200" b="1">
              <a:solidFill>
                <a:schemeClr val="lt1"/>
              </a:solidFill>
            </a:endParaRPr>
          </a:p>
        </p:txBody>
      </p:sp>
      <p:sp>
        <p:nvSpPr>
          <p:cNvPr id="1048726" name="矩形 23"/>
          <p:cNvSpPr/>
          <p:nvPr/>
        </p:nvSpPr>
        <p:spPr>
          <a:xfrm>
            <a:off x="838835" y="2428875"/>
            <a:ext cx="628650" cy="533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lt1"/>
                </a:solidFill>
              </a:rPr>
              <a:t>H</a:t>
            </a:r>
            <a:endParaRPr lang="en-US" altLang="zh-CN" sz="3200" b="1">
              <a:solidFill>
                <a:schemeClr val="lt1"/>
              </a:solidFill>
            </a:endParaRPr>
          </a:p>
        </p:txBody>
      </p:sp>
      <p:cxnSp>
        <p:nvCxnSpPr>
          <p:cNvPr id="3145750" name="直接连接符 39"/>
          <p:cNvCxnSpPr/>
          <p:nvPr/>
        </p:nvCxnSpPr>
        <p:spPr>
          <a:xfrm>
            <a:off x="1752600" y="883285"/>
            <a:ext cx="0" cy="2116455"/>
          </a:xfrm>
          <a:prstGeom prst="line">
            <a:avLst/>
          </a:prstGeom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8727" name="矩形 41"/>
          <p:cNvSpPr/>
          <p:nvPr/>
        </p:nvSpPr>
        <p:spPr>
          <a:xfrm>
            <a:off x="1329690" y="3166745"/>
            <a:ext cx="845185" cy="6197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|S&gt;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728" name="矩形 46"/>
          <p:cNvSpPr/>
          <p:nvPr/>
        </p:nvSpPr>
        <p:spPr>
          <a:xfrm>
            <a:off x="5048250" y="786765"/>
            <a:ext cx="845185" cy="6197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|S&gt;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97187" name="图片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065" y="732790"/>
            <a:ext cx="2383155" cy="1111885"/>
          </a:xfrm>
          <a:prstGeom prst="rect">
            <a:avLst/>
          </a:prstGeom>
        </p:spPr>
      </p:pic>
      <p:sp>
        <p:nvSpPr>
          <p:cNvPr id="1048729" name="文本框 2"/>
          <p:cNvSpPr txBox="1"/>
          <p:nvPr/>
        </p:nvSpPr>
        <p:spPr>
          <a:xfrm>
            <a:off x="3935730" y="972185"/>
            <a:ext cx="79552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由前文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，对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|S&gt;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整理：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48730" name="矩形 21"/>
          <p:cNvSpPr/>
          <p:nvPr/>
        </p:nvSpPr>
        <p:spPr>
          <a:xfrm>
            <a:off x="1994535" y="845185"/>
            <a:ext cx="1162685" cy="23977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800"/>
              <a:t>U</a:t>
            </a:r>
            <a:r>
              <a:rPr lang="en-US" altLang="zh-CN" sz="4800" baseline="-25000"/>
              <a:t>f</a:t>
            </a:r>
            <a:endParaRPr lang="en-US" altLang="zh-CN" sz="4800" baseline="-25000"/>
          </a:p>
        </p:txBody>
      </p:sp>
      <p:cxnSp>
        <p:nvCxnSpPr>
          <p:cNvPr id="3145751" name="直接连接符 7"/>
          <p:cNvCxnSpPr/>
          <p:nvPr/>
        </p:nvCxnSpPr>
        <p:spPr>
          <a:xfrm>
            <a:off x="3325495" y="883285"/>
            <a:ext cx="1905" cy="218821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097188" name="图片 8"/>
          <p:cNvPicPr>
            <a:picLocks noChangeAspect="1"/>
          </p:cNvPicPr>
          <p:nvPr/>
        </p:nvPicPr>
        <p:blipFill>
          <a:blip r:embed="rId3"/>
          <a:srcRect r="90224" b="62074"/>
          <a:stretch>
            <a:fillRect/>
          </a:stretch>
        </p:blipFill>
        <p:spPr>
          <a:xfrm>
            <a:off x="3079115" y="3430270"/>
            <a:ext cx="647700" cy="515620"/>
          </a:xfrm>
          <a:prstGeom prst="rect">
            <a:avLst/>
          </a:prstGeom>
        </p:spPr>
      </p:pic>
      <p:pic>
        <p:nvPicPr>
          <p:cNvPr id="2097189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" y="4934585"/>
            <a:ext cx="6023610" cy="1235710"/>
          </a:xfrm>
          <a:prstGeom prst="rect">
            <a:avLst/>
          </a:prstGeom>
        </p:spPr>
      </p:pic>
      <p:sp>
        <p:nvSpPr>
          <p:cNvPr id="1048731" name="文本框 10"/>
          <p:cNvSpPr txBox="1"/>
          <p:nvPr/>
        </p:nvSpPr>
        <p:spPr>
          <a:xfrm>
            <a:off x="730250" y="4307205"/>
            <a:ext cx="51555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|S&gt;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施加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</a:t>
            </a:r>
            <a:r>
              <a:rPr lang="en-US" altLang="zh-CN" sz="28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得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097190" name="图片 11"/>
          <p:cNvPicPr>
            <a:picLocks noChangeAspect="1"/>
          </p:cNvPicPr>
          <p:nvPr/>
        </p:nvPicPr>
        <p:blipFill>
          <a:blip r:embed="rId3"/>
          <a:srcRect r="90224" b="62074"/>
          <a:stretch>
            <a:fillRect/>
          </a:stretch>
        </p:blipFill>
        <p:spPr>
          <a:xfrm>
            <a:off x="3577590" y="4368800"/>
            <a:ext cx="647700" cy="515620"/>
          </a:xfrm>
          <a:prstGeom prst="rect">
            <a:avLst/>
          </a:prstGeom>
        </p:spPr>
      </p:pic>
      <p:pic>
        <p:nvPicPr>
          <p:cNvPr id="209719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640" y="4038600"/>
            <a:ext cx="3957955" cy="2061210"/>
          </a:xfrm>
          <a:prstGeom prst="rect">
            <a:avLst/>
          </a:prstGeom>
        </p:spPr>
      </p:pic>
      <p:pic>
        <p:nvPicPr>
          <p:cNvPr id="2097192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1110" y="1941195"/>
            <a:ext cx="8089900" cy="2253615"/>
          </a:xfrm>
          <a:prstGeom prst="rect">
            <a:avLst/>
          </a:prstGeom>
        </p:spPr>
      </p:pic>
      <p:sp>
        <p:nvSpPr>
          <p:cNvPr id="1048732" name="矩形 36"/>
          <p:cNvSpPr/>
          <p:nvPr/>
        </p:nvSpPr>
        <p:spPr>
          <a:xfrm>
            <a:off x="5814060" y="3166745"/>
            <a:ext cx="626745" cy="567055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33" name="矩形 24"/>
          <p:cNvSpPr/>
          <p:nvPr/>
        </p:nvSpPr>
        <p:spPr>
          <a:xfrm>
            <a:off x="7533640" y="4039235"/>
            <a:ext cx="3957955" cy="991870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34" name="矩形 25"/>
          <p:cNvSpPr/>
          <p:nvPr/>
        </p:nvSpPr>
        <p:spPr>
          <a:xfrm>
            <a:off x="4568190" y="3733800"/>
            <a:ext cx="237490" cy="56705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35" name="矩形 26"/>
          <p:cNvSpPr/>
          <p:nvPr/>
        </p:nvSpPr>
        <p:spPr>
          <a:xfrm>
            <a:off x="7488555" y="5095240"/>
            <a:ext cx="2226945" cy="100457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36" name="矩形 27"/>
          <p:cNvSpPr/>
          <p:nvPr/>
        </p:nvSpPr>
        <p:spPr>
          <a:xfrm>
            <a:off x="5727065" y="3786505"/>
            <a:ext cx="237490" cy="567055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37" name="矩形 28"/>
          <p:cNvSpPr/>
          <p:nvPr/>
        </p:nvSpPr>
        <p:spPr>
          <a:xfrm>
            <a:off x="9791700" y="5095240"/>
            <a:ext cx="1699260" cy="1004570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38" name="矩形 29"/>
          <p:cNvSpPr/>
          <p:nvPr/>
        </p:nvSpPr>
        <p:spPr>
          <a:xfrm>
            <a:off x="8234045" y="1941830"/>
            <a:ext cx="2207895" cy="955040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3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741" name="文本框 6"/>
          <p:cNvSpPr txBox="1"/>
          <p:nvPr/>
        </p:nvSpPr>
        <p:spPr>
          <a:xfrm>
            <a:off x="-102235" y="0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742" name="文本框 3"/>
          <p:cNvSpPr txBox="1"/>
          <p:nvPr/>
        </p:nvSpPr>
        <p:spPr>
          <a:xfrm>
            <a:off x="294005" y="114278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代数理解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第一轮迭代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52" name="直接连接符 5"/>
          <p:cNvCxnSpPr/>
          <p:nvPr/>
        </p:nvCxnSpPr>
        <p:spPr>
          <a:xfrm>
            <a:off x="347344" y="636228"/>
            <a:ext cx="116306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43" name="矩形: 圆角 12"/>
          <p:cNvSpPr/>
          <p:nvPr/>
        </p:nvSpPr>
        <p:spPr>
          <a:xfrm>
            <a:off x="347345" y="732790"/>
            <a:ext cx="11621770" cy="5954395"/>
          </a:xfrm>
          <a:prstGeom prst="roundRect">
            <a:avLst>
              <a:gd name="adj" fmla="val 35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44" name="文本框 32"/>
          <p:cNvSpPr txBox="1"/>
          <p:nvPr/>
        </p:nvSpPr>
        <p:spPr>
          <a:xfrm>
            <a:off x="7934960" y="4117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3145753" name="直接连接符 30"/>
          <p:cNvCxnSpPr/>
          <p:nvPr/>
        </p:nvCxnSpPr>
        <p:spPr>
          <a:xfrm>
            <a:off x="820420" y="1327150"/>
            <a:ext cx="2038350" cy="0"/>
          </a:xfrm>
          <a:prstGeom prst="line">
            <a:avLst/>
          </a:prstGeom>
          <a:ln w="63500">
            <a:solidFill>
              <a:srgbClr val="171D2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5754" name="直接连接符 37"/>
          <p:cNvCxnSpPr/>
          <p:nvPr/>
        </p:nvCxnSpPr>
        <p:spPr>
          <a:xfrm flipV="1">
            <a:off x="772795" y="2646045"/>
            <a:ext cx="2092325" cy="29845"/>
          </a:xfrm>
          <a:prstGeom prst="line">
            <a:avLst/>
          </a:prstGeom>
          <a:ln w="63500">
            <a:solidFill>
              <a:srgbClr val="171D2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5755" name="直接连接符 39"/>
          <p:cNvCxnSpPr/>
          <p:nvPr/>
        </p:nvCxnSpPr>
        <p:spPr>
          <a:xfrm>
            <a:off x="1087755" y="883285"/>
            <a:ext cx="0" cy="2116455"/>
          </a:xfrm>
          <a:prstGeom prst="line">
            <a:avLst/>
          </a:prstGeom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8745" name="矩形 21"/>
          <p:cNvSpPr/>
          <p:nvPr/>
        </p:nvSpPr>
        <p:spPr>
          <a:xfrm>
            <a:off x="1329690" y="845185"/>
            <a:ext cx="1162685" cy="23977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800"/>
              <a:t>V</a:t>
            </a:r>
            <a:endParaRPr lang="en-US" altLang="zh-CN" sz="4800" baseline="-25000"/>
          </a:p>
        </p:txBody>
      </p:sp>
      <p:cxnSp>
        <p:nvCxnSpPr>
          <p:cNvPr id="3145756" name="直接连接符 7"/>
          <p:cNvCxnSpPr/>
          <p:nvPr/>
        </p:nvCxnSpPr>
        <p:spPr>
          <a:xfrm>
            <a:off x="2660650" y="883285"/>
            <a:ext cx="1905" cy="2188210"/>
          </a:xfrm>
          <a:prstGeom prst="line">
            <a:avLst/>
          </a:prstGeom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097194" name="图片 8"/>
          <p:cNvPicPr>
            <a:picLocks noChangeAspect="1"/>
          </p:cNvPicPr>
          <p:nvPr/>
        </p:nvPicPr>
        <p:blipFill>
          <a:blip r:embed="rId2"/>
          <a:srcRect r="90224" b="62074"/>
          <a:stretch>
            <a:fillRect/>
          </a:stretch>
        </p:blipFill>
        <p:spPr>
          <a:xfrm>
            <a:off x="820420" y="3395345"/>
            <a:ext cx="647700" cy="515620"/>
          </a:xfrm>
          <a:prstGeom prst="rect">
            <a:avLst/>
          </a:prstGeom>
        </p:spPr>
      </p:pic>
      <p:sp>
        <p:nvSpPr>
          <p:cNvPr id="1048746" name="文本框 10"/>
          <p:cNvSpPr txBox="1"/>
          <p:nvPr/>
        </p:nvSpPr>
        <p:spPr>
          <a:xfrm>
            <a:off x="3729990" y="1024255"/>
            <a:ext cx="51555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施加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得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097195" name="图片 11"/>
          <p:cNvPicPr>
            <a:picLocks noChangeAspect="1"/>
          </p:cNvPicPr>
          <p:nvPr/>
        </p:nvPicPr>
        <p:blipFill>
          <a:blip r:embed="rId2"/>
          <a:srcRect r="90224" b="62074"/>
          <a:stretch>
            <a:fillRect/>
          </a:stretch>
        </p:blipFill>
        <p:spPr>
          <a:xfrm>
            <a:off x="4235450" y="1069340"/>
            <a:ext cx="647700" cy="515620"/>
          </a:xfrm>
          <a:prstGeom prst="rect">
            <a:avLst/>
          </a:prstGeom>
        </p:spPr>
      </p:pic>
      <p:pic>
        <p:nvPicPr>
          <p:cNvPr id="2097196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990" y="1658620"/>
            <a:ext cx="7342505" cy="3517265"/>
          </a:xfrm>
          <a:prstGeom prst="rect">
            <a:avLst/>
          </a:prstGeom>
        </p:spPr>
      </p:pic>
      <p:pic>
        <p:nvPicPr>
          <p:cNvPr id="2097197" name="图片 13"/>
          <p:cNvPicPr>
            <a:picLocks noChangeAspect="1"/>
          </p:cNvPicPr>
          <p:nvPr/>
        </p:nvPicPr>
        <p:blipFill>
          <a:blip r:embed="rId3"/>
          <a:srcRect r="90534" b="84921"/>
          <a:stretch>
            <a:fillRect/>
          </a:stretch>
        </p:blipFill>
        <p:spPr>
          <a:xfrm>
            <a:off x="2390140" y="3395345"/>
            <a:ext cx="739140" cy="563880"/>
          </a:xfrm>
          <a:prstGeom prst="rect">
            <a:avLst/>
          </a:prstGeom>
        </p:spPr>
      </p:pic>
      <p:sp>
        <p:nvSpPr>
          <p:cNvPr id="1048747" name="矩形 14"/>
          <p:cNvSpPr/>
          <p:nvPr/>
        </p:nvSpPr>
        <p:spPr>
          <a:xfrm>
            <a:off x="7787640" y="2575560"/>
            <a:ext cx="1134745" cy="495935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97198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20" y="5560695"/>
            <a:ext cx="4800600" cy="433070"/>
          </a:xfrm>
          <a:prstGeom prst="rect">
            <a:avLst/>
          </a:prstGeom>
        </p:spPr>
      </p:pic>
      <p:sp>
        <p:nvSpPr>
          <p:cNvPr id="1048748" name="矩形 16"/>
          <p:cNvSpPr/>
          <p:nvPr/>
        </p:nvSpPr>
        <p:spPr>
          <a:xfrm>
            <a:off x="772795" y="5497830"/>
            <a:ext cx="4946650" cy="495935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6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721" name="文本框 6"/>
          <p:cNvSpPr txBox="1"/>
          <p:nvPr/>
        </p:nvSpPr>
        <p:spPr>
          <a:xfrm>
            <a:off x="-102235" y="0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722" name="文本框 3"/>
          <p:cNvSpPr txBox="1"/>
          <p:nvPr/>
        </p:nvSpPr>
        <p:spPr>
          <a:xfrm>
            <a:off x="294005" y="114278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代数理解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二轮迭代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47" name="直接连接符 5"/>
          <p:cNvCxnSpPr/>
          <p:nvPr/>
        </p:nvCxnSpPr>
        <p:spPr>
          <a:xfrm>
            <a:off x="347344" y="636228"/>
            <a:ext cx="116306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矩形: 圆角 12"/>
          <p:cNvSpPr/>
          <p:nvPr/>
        </p:nvSpPr>
        <p:spPr>
          <a:xfrm>
            <a:off x="347345" y="732790"/>
            <a:ext cx="11621770" cy="5954395"/>
          </a:xfrm>
          <a:prstGeom prst="roundRect">
            <a:avLst>
              <a:gd name="adj" fmla="val 35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24" name="文本框 32"/>
          <p:cNvSpPr txBox="1"/>
          <p:nvPr/>
        </p:nvSpPr>
        <p:spPr>
          <a:xfrm>
            <a:off x="7934960" y="4117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3145748" name="直接连接符 30"/>
          <p:cNvCxnSpPr/>
          <p:nvPr/>
        </p:nvCxnSpPr>
        <p:spPr>
          <a:xfrm>
            <a:off x="760095" y="1327150"/>
            <a:ext cx="2032000" cy="0"/>
          </a:xfrm>
          <a:prstGeom prst="line">
            <a:avLst/>
          </a:prstGeom>
          <a:ln w="63500">
            <a:solidFill>
              <a:srgbClr val="171D2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5749" name="直接连接符 37"/>
          <p:cNvCxnSpPr/>
          <p:nvPr/>
        </p:nvCxnSpPr>
        <p:spPr>
          <a:xfrm>
            <a:off x="760095" y="2621915"/>
            <a:ext cx="2038350" cy="24130"/>
          </a:xfrm>
          <a:prstGeom prst="line">
            <a:avLst/>
          </a:prstGeom>
          <a:ln w="63500">
            <a:solidFill>
              <a:srgbClr val="171D2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5750" name="直接连接符 39"/>
          <p:cNvCxnSpPr/>
          <p:nvPr/>
        </p:nvCxnSpPr>
        <p:spPr>
          <a:xfrm>
            <a:off x="1021080" y="883285"/>
            <a:ext cx="0" cy="2116455"/>
          </a:xfrm>
          <a:prstGeom prst="line">
            <a:avLst/>
          </a:prstGeom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8730" name="矩形 21"/>
          <p:cNvSpPr/>
          <p:nvPr/>
        </p:nvSpPr>
        <p:spPr>
          <a:xfrm>
            <a:off x="1263015" y="845185"/>
            <a:ext cx="1162685" cy="23977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800"/>
              <a:t>U</a:t>
            </a:r>
            <a:r>
              <a:rPr lang="en-US" altLang="zh-CN" sz="4800" baseline="-25000"/>
              <a:t>f</a:t>
            </a:r>
            <a:endParaRPr lang="en-US" altLang="zh-CN" sz="4800" baseline="-25000"/>
          </a:p>
        </p:txBody>
      </p:sp>
      <p:cxnSp>
        <p:nvCxnSpPr>
          <p:cNvPr id="3145751" name="直接连接符 7"/>
          <p:cNvCxnSpPr/>
          <p:nvPr/>
        </p:nvCxnSpPr>
        <p:spPr>
          <a:xfrm>
            <a:off x="2593975" y="883285"/>
            <a:ext cx="1905" cy="218821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8731" name="文本框 10"/>
          <p:cNvSpPr txBox="1"/>
          <p:nvPr/>
        </p:nvSpPr>
        <p:spPr>
          <a:xfrm>
            <a:off x="3467100" y="883285"/>
            <a:ext cx="51555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施加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</a:t>
            </a:r>
            <a:r>
              <a:rPr lang="en-US" altLang="zh-CN" sz="28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得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r="87659" b="83749"/>
          <a:stretch>
            <a:fillRect/>
          </a:stretch>
        </p:blipFill>
        <p:spPr>
          <a:xfrm>
            <a:off x="1997075" y="3419475"/>
            <a:ext cx="996315" cy="539115"/>
          </a:xfrm>
          <a:prstGeom prst="rect">
            <a:avLst/>
          </a:prstGeom>
        </p:spPr>
      </p:pic>
      <p:pic>
        <p:nvPicPr>
          <p:cNvPr id="2097197" name="图片 13"/>
          <p:cNvPicPr>
            <a:picLocks noChangeAspect="1"/>
          </p:cNvPicPr>
          <p:nvPr/>
        </p:nvPicPr>
        <p:blipFill>
          <a:blip r:embed="rId3"/>
          <a:srcRect r="90534" b="84921"/>
          <a:stretch>
            <a:fillRect/>
          </a:stretch>
        </p:blipFill>
        <p:spPr>
          <a:xfrm>
            <a:off x="760095" y="3424555"/>
            <a:ext cx="739140" cy="5638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r="87659" b="83749"/>
          <a:stretch>
            <a:fillRect/>
          </a:stretch>
        </p:blipFill>
        <p:spPr>
          <a:xfrm>
            <a:off x="6096000" y="920750"/>
            <a:ext cx="996315" cy="539115"/>
          </a:xfrm>
          <a:prstGeom prst="rect">
            <a:avLst/>
          </a:prstGeom>
        </p:spPr>
      </p:pic>
      <p:pic>
        <p:nvPicPr>
          <p:cNvPr id="3" name="图片 13"/>
          <p:cNvPicPr>
            <a:picLocks noChangeAspect="1"/>
          </p:cNvPicPr>
          <p:nvPr/>
        </p:nvPicPr>
        <p:blipFill>
          <a:blip r:embed="rId3"/>
          <a:srcRect r="90534" b="84921"/>
          <a:stretch>
            <a:fillRect/>
          </a:stretch>
        </p:blipFill>
        <p:spPr>
          <a:xfrm>
            <a:off x="3914140" y="920750"/>
            <a:ext cx="739140" cy="5638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125" y="1652270"/>
            <a:ext cx="8339455" cy="3423285"/>
          </a:xfrm>
          <a:prstGeom prst="rect">
            <a:avLst/>
          </a:prstGeom>
        </p:spPr>
      </p:pic>
      <p:sp>
        <p:nvSpPr>
          <p:cNvPr id="5" name="矩形 36"/>
          <p:cNvSpPr/>
          <p:nvPr/>
        </p:nvSpPr>
        <p:spPr>
          <a:xfrm>
            <a:off x="3746500" y="3286760"/>
            <a:ext cx="704215" cy="567055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36"/>
          <p:cNvSpPr/>
          <p:nvPr/>
        </p:nvSpPr>
        <p:spPr>
          <a:xfrm>
            <a:off x="3785235" y="3918585"/>
            <a:ext cx="3461385" cy="567055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25"/>
          <p:cNvSpPr/>
          <p:nvPr/>
        </p:nvSpPr>
        <p:spPr>
          <a:xfrm>
            <a:off x="6222365" y="3918585"/>
            <a:ext cx="4217035" cy="56705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25"/>
          <p:cNvSpPr/>
          <p:nvPr/>
        </p:nvSpPr>
        <p:spPr>
          <a:xfrm>
            <a:off x="6221730" y="4550410"/>
            <a:ext cx="2839720" cy="56705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10"/>
          <p:cNvSpPr txBox="1"/>
          <p:nvPr/>
        </p:nvSpPr>
        <p:spPr>
          <a:xfrm>
            <a:off x="2792095" y="5322570"/>
            <a:ext cx="82175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同理第一次迭代，把结果整理成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|S&gt;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|w&gt;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组合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3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741" name="文本框 6"/>
          <p:cNvSpPr txBox="1"/>
          <p:nvPr/>
        </p:nvSpPr>
        <p:spPr>
          <a:xfrm>
            <a:off x="-102235" y="0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742" name="文本框 3"/>
          <p:cNvSpPr txBox="1"/>
          <p:nvPr/>
        </p:nvSpPr>
        <p:spPr>
          <a:xfrm>
            <a:off x="294005" y="114278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代数理解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二轮迭代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52" name="直接连接符 5"/>
          <p:cNvCxnSpPr/>
          <p:nvPr/>
        </p:nvCxnSpPr>
        <p:spPr>
          <a:xfrm>
            <a:off x="347344" y="636228"/>
            <a:ext cx="116306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43" name="矩形: 圆角 12"/>
          <p:cNvSpPr/>
          <p:nvPr/>
        </p:nvSpPr>
        <p:spPr>
          <a:xfrm>
            <a:off x="347345" y="732790"/>
            <a:ext cx="11621770" cy="5954395"/>
          </a:xfrm>
          <a:prstGeom prst="roundRect">
            <a:avLst>
              <a:gd name="adj" fmla="val 35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44" name="文本框 32"/>
          <p:cNvSpPr txBox="1"/>
          <p:nvPr/>
        </p:nvSpPr>
        <p:spPr>
          <a:xfrm>
            <a:off x="7934960" y="4117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3145753" name="直接连接符 30"/>
          <p:cNvCxnSpPr/>
          <p:nvPr/>
        </p:nvCxnSpPr>
        <p:spPr>
          <a:xfrm>
            <a:off x="820420" y="1327150"/>
            <a:ext cx="2038350" cy="0"/>
          </a:xfrm>
          <a:prstGeom prst="line">
            <a:avLst/>
          </a:prstGeom>
          <a:ln w="63500">
            <a:solidFill>
              <a:srgbClr val="171D2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5754" name="直接连接符 37"/>
          <p:cNvCxnSpPr/>
          <p:nvPr/>
        </p:nvCxnSpPr>
        <p:spPr>
          <a:xfrm flipV="1">
            <a:off x="772795" y="2646045"/>
            <a:ext cx="2092325" cy="29845"/>
          </a:xfrm>
          <a:prstGeom prst="line">
            <a:avLst/>
          </a:prstGeom>
          <a:ln w="63500">
            <a:solidFill>
              <a:srgbClr val="171D2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5755" name="直接连接符 39"/>
          <p:cNvCxnSpPr/>
          <p:nvPr/>
        </p:nvCxnSpPr>
        <p:spPr>
          <a:xfrm>
            <a:off x="1087755" y="883285"/>
            <a:ext cx="0" cy="2116455"/>
          </a:xfrm>
          <a:prstGeom prst="line">
            <a:avLst/>
          </a:prstGeom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8745" name="矩形 21"/>
          <p:cNvSpPr/>
          <p:nvPr/>
        </p:nvSpPr>
        <p:spPr>
          <a:xfrm>
            <a:off x="1329690" y="845185"/>
            <a:ext cx="1162685" cy="23977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800"/>
              <a:t>V</a:t>
            </a:r>
            <a:endParaRPr lang="en-US" altLang="zh-CN" sz="4800" baseline="-25000"/>
          </a:p>
        </p:txBody>
      </p:sp>
      <p:cxnSp>
        <p:nvCxnSpPr>
          <p:cNvPr id="3145756" name="直接连接符 7"/>
          <p:cNvCxnSpPr/>
          <p:nvPr/>
        </p:nvCxnSpPr>
        <p:spPr>
          <a:xfrm>
            <a:off x="2660650" y="883285"/>
            <a:ext cx="1905" cy="2188210"/>
          </a:xfrm>
          <a:prstGeom prst="line">
            <a:avLst/>
          </a:prstGeom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8746" name="文本框 10"/>
          <p:cNvSpPr txBox="1"/>
          <p:nvPr/>
        </p:nvSpPr>
        <p:spPr>
          <a:xfrm>
            <a:off x="3729990" y="1024255"/>
            <a:ext cx="51555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施加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得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r="93278" b="89970"/>
          <a:stretch>
            <a:fillRect/>
          </a:stretch>
        </p:blipFill>
        <p:spPr>
          <a:xfrm>
            <a:off x="2367280" y="3318510"/>
            <a:ext cx="735330" cy="4711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r="87659" b="83749"/>
          <a:stretch>
            <a:fillRect/>
          </a:stretch>
        </p:blipFill>
        <p:spPr>
          <a:xfrm>
            <a:off x="606425" y="3383915"/>
            <a:ext cx="963295" cy="5213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r="87659" b="83749"/>
          <a:stretch>
            <a:fillRect/>
          </a:stretch>
        </p:blipFill>
        <p:spPr>
          <a:xfrm>
            <a:off x="3909695" y="1099820"/>
            <a:ext cx="996315" cy="5391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r="93278" b="89970"/>
          <a:stretch>
            <a:fillRect/>
          </a:stretch>
        </p:blipFill>
        <p:spPr>
          <a:xfrm>
            <a:off x="6558280" y="1099820"/>
            <a:ext cx="735330" cy="4711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610" y="2102485"/>
            <a:ext cx="8735695" cy="37496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0"/>
            <a:ext cx="12294870" cy="6833870"/>
          </a:xfrm>
          <a:prstGeom prst="rect">
            <a:avLst/>
          </a:prstGeom>
        </p:spPr>
      </p:pic>
      <p:sp>
        <p:nvSpPr>
          <p:cNvPr id="1048586" name="文本框 6"/>
          <p:cNvSpPr txBox="1"/>
          <p:nvPr/>
        </p:nvSpPr>
        <p:spPr>
          <a:xfrm>
            <a:off x="-153035" y="635"/>
            <a:ext cx="12345670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5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22" name="矩形: 圆角 21"/>
          <p:cNvSpPr/>
          <p:nvPr/>
        </p:nvSpPr>
        <p:spPr>
          <a:xfrm>
            <a:off x="-152400" y="-19050"/>
            <a:ext cx="12345035" cy="9271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360420" y="121920"/>
            <a:ext cx="536829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对比第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和第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轮迭代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94460" y="2691765"/>
            <a:ext cx="9605645" cy="13836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很大的时候，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很小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可看出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的参数在减小，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的参数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在增大。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2397376" y="6346734"/>
            <a:ext cx="7039610" cy="2349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26541" y="5138974"/>
            <a:ext cx="10436041" cy="95313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则可推测在足够次数的迭代后，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的参数将趋近于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，那么此时测量测到目标的概率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6044561" y="4214744"/>
            <a:ext cx="2540" cy="86931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545" y="1351280"/>
            <a:ext cx="8342630" cy="103568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595" y="2551430"/>
            <a:ext cx="3349625" cy="102552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l="49896" t="21734" r="40626" b="31146"/>
          <a:stretch>
            <a:fillRect/>
          </a:stretch>
        </p:blipFill>
        <p:spPr>
          <a:xfrm>
            <a:off x="8780780" y="2730500"/>
            <a:ext cx="317500" cy="4832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rcRect l="32661" r="58449" b="53893"/>
          <a:stretch>
            <a:fillRect/>
          </a:stretch>
        </p:blipFill>
        <p:spPr>
          <a:xfrm>
            <a:off x="2583180" y="3576955"/>
            <a:ext cx="741680" cy="47752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rcRect l="65992" r="27972" b="55855"/>
          <a:stretch>
            <a:fillRect/>
          </a:stretch>
        </p:blipFill>
        <p:spPr>
          <a:xfrm>
            <a:off x="5541010" y="3534410"/>
            <a:ext cx="503555" cy="4572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rcRect l="65992" r="27972" b="55855"/>
          <a:stretch>
            <a:fillRect/>
          </a:stretch>
        </p:blipFill>
        <p:spPr>
          <a:xfrm>
            <a:off x="5768340" y="5139055"/>
            <a:ext cx="503555" cy="4572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606" name="文本框 6"/>
          <p:cNvSpPr txBox="1"/>
          <p:nvPr/>
        </p:nvSpPr>
        <p:spPr>
          <a:xfrm>
            <a:off x="-102235" y="635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608" name="文本框 15"/>
          <p:cNvSpPr txBox="1"/>
          <p:nvPr/>
        </p:nvSpPr>
        <p:spPr>
          <a:xfrm>
            <a:off x="965200" y="534648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30" name="直接连接符 18"/>
          <p:cNvCxnSpPr/>
          <p:nvPr/>
        </p:nvCxnSpPr>
        <p:spPr>
          <a:xfrm flipH="1">
            <a:off x="1066799" y="1057868"/>
            <a:ext cx="103251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0" name="文本框 24"/>
          <p:cNvSpPr txBox="1"/>
          <p:nvPr/>
        </p:nvSpPr>
        <p:spPr>
          <a:xfrm>
            <a:off x="2732405" y="596265"/>
            <a:ext cx="56057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4qubite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，在</a:t>
            </a:r>
            <a:r>
              <a:rPr 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{0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，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1</a:t>
            </a:r>
            <a:r>
              <a:rPr 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}</a:t>
            </a:r>
            <a:r>
              <a:rPr lang="en-US" sz="2400" b="1" baseline="3000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4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中寻找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1111</a:t>
            </a:r>
            <a:endParaRPr lang="en-US" altLang="zh-CN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" y="1798955"/>
            <a:ext cx="4505325" cy="44215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1741" b="15330"/>
          <a:stretch>
            <a:fillRect/>
          </a:stretch>
        </p:blipFill>
        <p:spPr>
          <a:xfrm>
            <a:off x="5709285" y="2792730"/>
            <a:ext cx="6129020" cy="2191385"/>
          </a:xfrm>
          <a:prstGeom prst="rect">
            <a:avLst/>
          </a:prstGeom>
        </p:spPr>
      </p:pic>
      <p:sp>
        <p:nvSpPr>
          <p:cNvPr id="1048652" name="矩形 34"/>
          <p:cNvSpPr/>
          <p:nvPr/>
        </p:nvSpPr>
        <p:spPr>
          <a:xfrm>
            <a:off x="6109970" y="2826385"/>
            <a:ext cx="828675" cy="1903095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34"/>
          <p:cNvSpPr/>
          <p:nvPr/>
        </p:nvSpPr>
        <p:spPr>
          <a:xfrm>
            <a:off x="7108190" y="2938145"/>
            <a:ext cx="532130" cy="184785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34"/>
          <p:cNvSpPr/>
          <p:nvPr/>
        </p:nvSpPr>
        <p:spPr>
          <a:xfrm>
            <a:off x="7769225" y="2853055"/>
            <a:ext cx="3277870" cy="1558290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606" name="文本框 6"/>
          <p:cNvSpPr txBox="1"/>
          <p:nvPr/>
        </p:nvSpPr>
        <p:spPr>
          <a:xfrm>
            <a:off x="-102235" y="635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67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608" name="文本框 15"/>
          <p:cNvSpPr txBox="1"/>
          <p:nvPr/>
        </p:nvSpPr>
        <p:spPr>
          <a:xfrm>
            <a:off x="965200" y="534648"/>
            <a:ext cx="3713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30" name="直接连接符 18"/>
          <p:cNvCxnSpPr/>
          <p:nvPr/>
        </p:nvCxnSpPr>
        <p:spPr>
          <a:xfrm flipH="1">
            <a:off x="1066799" y="1057868"/>
            <a:ext cx="103251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0" name="文本框 24"/>
          <p:cNvSpPr txBox="1"/>
          <p:nvPr/>
        </p:nvSpPr>
        <p:spPr>
          <a:xfrm>
            <a:off x="2732405" y="596265"/>
            <a:ext cx="56057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4qubite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，在</a:t>
            </a:r>
            <a:r>
              <a:rPr 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{0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，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1</a:t>
            </a:r>
            <a:r>
              <a:rPr 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}</a:t>
            </a:r>
            <a:r>
              <a:rPr lang="en-US" sz="2400" b="1" baseline="3000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4</a:t>
            </a:r>
            <a:r>
              <a:rPr lang="zh-CN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中寻找</a:t>
            </a:r>
            <a:r>
              <a:rPr lang="en-US" altLang="zh-CN" sz="24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</a:rPr>
              <a:t>1111</a:t>
            </a:r>
            <a:endParaRPr lang="en-US" altLang="zh-CN" sz="2400" b="1" dirty="0">
              <a:solidFill>
                <a:schemeClr val="bg1"/>
              </a:solidFill>
              <a:latin typeface="Arial Narrow" panose="020B0606020202030204" pitchFamily="34" charset="0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" y="1416050"/>
            <a:ext cx="4894580" cy="48945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600" y="1496060"/>
            <a:ext cx="6155690" cy="46158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9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35" y="-158"/>
            <a:ext cx="12192000" cy="6834187"/>
          </a:xfrm>
          <a:prstGeom prst="rect">
            <a:avLst/>
          </a:prstGeom>
        </p:spPr>
      </p:pic>
      <p:sp>
        <p:nvSpPr>
          <p:cNvPr id="1048751" name="文本框 6"/>
          <p:cNvSpPr txBox="1"/>
          <p:nvPr/>
        </p:nvSpPr>
        <p:spPr>
          <a:xfrm>
            <a:off x="-102235" y="635"/>
            <a:ext cx="12294235" cy="6857365"/>
          </a:xfrm>
          <a:prstGeom prst="rect">
            <a:avLst/>
          </a:prstGeom>
          <a:gradFill>
            <a:gsLst>
              <a:gs pos="0">
                <a:srgbClr val="192028">
                  <a:lumMod val="86000"/>
                  <a:lumOff val="14000"/>
                  <a:alpha val="25000"/>
                </a:srgbClr>
              </a:gs>
              <a:gs pos="93000">
                <a:srgbClr val="192028">
                  <a:lumMod val="0"/>
                </a:srgbClr>
              </a:gs>
            </a:gsLst>
            <a:lin ang="9000000" scaled="0"/>
          </a:gradFill>
        </p:spPr>
        <p:txBody>
          <a:bodyPr wrap="square" rtlCol="0">
            <a:noAutofit/>
          </a:bodyPr>
          <a:p>
            <a:endParaRPr lang="zh-CN" altLang="en-US" dirty="0"/>
          </a:p>
        </p:txBody>
      </p:sp>
      <p:sp>
        <p:nvSpPr>
          <p:cNvPr id="1048752" name="文本框 4"/>
          <p:cNvSpPr txBox="1"/>
          <p:nvPr/>
        </p:nvSpPr>
        <p:spPr>
          <a:xfrm>
            <a:off x="895347" y="2053028"/>
            <a:ext cx="10401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 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YOUR LISRENING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57" name="直接连接符 5"/>
          <p:cNvCxnSpPr/>
          <p:nvPr/>
        </p:nvCxnSpPr>
        <p:spPr>
          <a:xfrm>
            <a:off x="1003300" y="3849346"/>
            <a:ext cx="93091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0.55,&quot;left&quot;:199,&quot;top&quot;:84.95,&quot;width&quot;:480.05}"/>
</p:tagLst>
</file>

<file path=ppt/tags/tag2.xml><?xml version="1.0" encoding="utf-8"?>
<p:tagLst xmlns:p="http://schemas.openxmlformats.org/presentationml/2006/main">
  <p:tag name="KSO_WM_DIAGRAM_VIRTUALLY_FRAME" val="{&quot;height&quot;:260.55,&quot;left&quot;:199,&quot;top&quot;:84.95,&quot;width&quot;:480.05}"/>
</p:tagLst>
</file>

<file path=ppt/tags/tag3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4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5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6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7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8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9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10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11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12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13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14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15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16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17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18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19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20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21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22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23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24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25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26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27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28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29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30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31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32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33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34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35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36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37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38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39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40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41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42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43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44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45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46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47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48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49.xml><?xml version="1.0" encoding="utf-8"?>
<p:tagLst xmlns:p="http://schemas.openxmlformats.org/presentationml/2006/main">
  <p:tag name="KSO_WM_DIAGRAM_VIRTUALLY_FRAME" val="{&quot;height&quot;:378,&quot;left&quot;:78.2,&quot;top&quot;:137.7,&quot;width&quot;:875.55}"/>
</p:tagLst>
</file>

<file path=ppt/tags/tag50.xml><?xml version="1.0" encoding="utf-8"?>
<p:tagLst xmlns:p="http://schemas.openxmlformats.org/presentationml/2006/main">
  <p:tag name="KSO_WM_DIAGRAM_VIRTUALLY_FRAME" val="{&quot;height&quot;:260.55,&quot;left&quot;:199,&quot;top&quot;:84.95,&quot;width&quot;:480.05}"/>
</p:tagLst>
</file>

<file path=ppt/tags/tag51.xml><?xml version="1.0" encoding="utf-8"?>
<p:tagLst xmlns:p="http://schemas.openxmlformats.org/presentationml/2006/main">
  <p:tag name="KSO_WM_DIAGRAM_VIRTUALLY_FRAME" val="{&quot;height&quot;:260.55,&quot;left&quot;:199,&quot;top&quot;:84.95,&quot;width&quot;:480.05}"/>
</p:tagLst>
</file>

<file path=ppt/tags/tag52.xml><?xml version="1.0" encoding="utf-8"?>
<p:tagLst xmlns:p="http://schemas.openxmlformats.org/presentationml/2006/main">
  <p:tag name="KSO_WM_DIAGRAM_VIRTUALLY_FRAME" val="{&quot;height&quot;:260.55,&quot;left&quot;:199,&quot;top&quot;:84.95,&quot;width&quot;:480.05}"/>
</p:tagLst>
</file>

<file path=ppt/tags/tag53.xml><?xml version="1.0" encoding="utf-8"?>
<p:tagLst xmlns:p="http://schemas.openxmlformats.org/presentationml/2006/main">
  <p:tag name="KSO_WM_DIAGRAM_VIRTUALLY_FRAME" val="{&quot;height&quot;:260.55,&quot;left&quot;:199,&quot;top&quot;:84.95,&quot;width&quot;:480.05}"/>
</p:tagLst>
</file>

<file path=ppt/tags/tag54.xml><?xml version="1.0" encoding="utf-8"?>
<p:tagLst xmlns:p="http://schemas.openxmlformats.org/presentationml/2006/main">
  <p:tag name="KSO_WM_DIAGRAM_VIRTUALLY_FRAME" val="{&quot;height&quot;:260.55,&quot;left&quot;:199,&quot;top&quot;:84.95,&quot;width&quot;:480.05}"/>
</p:tagLst>
</file>

<file path=ppt/tags/tag55.xml><?xml version="1.0" encoding="utf-8"?>
<p:tagLst xmlns:p="http://schemas.openxmlformats.org/presentationml/2006/main">
  <p:tag name="KSO_WM_DIAGRAM_VIRTUALLY_FRAME" val="{&quot;height&quot;:260.55,&quot;left&quot;:199,&quot;top&quot;:84.95,&quot;width&quot;:480.05}"/>
</p:tagLst>
</file>

<file path=ppt/tags/tag56.xml><?xml version="1.0" encoding="utf-8"?>
<p:tagLst xmlns:p="http://schemas.openxmlformats.org/presentationml/2006/main">
  <p:tag name="KSO_WM_DIAGRAM_VIRTUALLY_FRAME" val="{&quot;height&quot;:260.55,&quot;left&quot;:199,&quot;top&quot;:84.95,&quot;width&quot;:480.05}"/>
</p:tagLst>
</file>

<file path=ppt/tags/tag57.xml><?xml version="1.0" encoding="utf-8"?>
<p:tagLst xmlns:p="http://schemas.openxmlformats.org/presentationml/2006/main">
  <p:tag name="resource_record_key" val="{&quot;10&quot;:[20043190,20043189,21575910,3633677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1706</Words>
  <Application>WPS 演示</Application>
  <PresentationFormat/>
  <Paragraphs>274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Arial</vt:lpstr>
      <vt:lpstr>宋体</vt:lpstr>
      <vt:lpstr>Wingdings</vt:lpstr>
      <vt:lpstr>黑体</vt:lpstr>
      <vt:lpstr>微软雅黑</vt:lpstr>
      <vt:lpstr>Franklin Gothic Demi</vt:lpstr>
      <vt:lpstr>Arial Narrow</vt:lpstr>
      <vt:lpstr>等线 Light</vt:lpstr>
      <vt:lpstr>等线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 子君</dc:creator>
  <cp:lastModifiedBy>Lan</cp:lastModifiedBy>
  <cp:revision>19</cp:revision>
  <dcterms:created xsi:type="dcterms:W3CDTF">2025-04-21T04:07:00Z</dcterms:created>
  <dcterms:modified xsi:type="dcterms:W3CDTF">2026-04-13T12:16:45Z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B8FF5AD6EE544974B808564A23B50851_13</vt:lpwstr>
  </property>
  <property fmtid="{D5CDD505-2E9C-101B-9397-08002B2CF9AE}" pid="3" name="KSOProductBuildVer">
    <vt:lpwstr>2052-12.1.0.25225</vt:lpwstr>
  </property>
</Properties>
</file>